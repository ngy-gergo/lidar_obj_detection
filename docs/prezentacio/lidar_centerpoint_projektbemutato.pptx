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Fő üzenet: egy LiDAR-only CenterPoint kutatási és runtime útvonalat mutatok be.</a:t>
            </a:r>
          </a:p>
          <a:p/>
          <a:p>
            <a:r>
              <a:t>Beszédpontok:</a:t>
            </a:r>
          </a:p>
          <a:p>
            <a:r>
              <a:t>- A fókusz a mérhető mérnöki kompromisszum, nem az általános LiDAR-bevezetés.</a:t>
            </a:r>
          </a:p>
          <a:p>
            <a:r>
              <a:t>- Két finalistát, külön multiclass bizonyítást és működő ROS2/Foxglove láncot látunk.</a:t>
            </a:r>
          </a:p>
          <a:p>
            <a:r>
              <a:t>- A végén a bizonyított részeket elválasztom a még nyitott kérdésektől.</a:t>
            </a:r>
          </a:p>
          <a:p/>
          <a:p>
            <a:r>
              <a:t>Átvezetés: először rögzítem, milyen mérnöki célt kellett egyszerre teljesíteni.</a:t>
            </a:r>
          </a:p>
          <a:p/>
          <a:p>
            <a:r>
              <a:t>[Sources]</a:t>
            </a:r>
          </a:p>
          <a:p>
            <a:r>
              <a:t>- docs/projektdokumentacio/projektdokumentacio.md</a:t>
            </a:r>
          </a:p>
          <a:p>
            <a:r>
              <a:t>- docs/presentation_handoff.md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Fő mondanivaló: a rendszer két célfüggvényt kezel együtt: pontosságot és runtime-ot.</a:t>
            </a:r>
          </a:p>
          <a:p/>
          <a:p>
            <a:r>
              <a:t>Beszédpontok:</a:t>
            </a:r>
          </a:p>
          <a:p>
            <a:r>
              <a:t>- A kutatási input LiDAR-only, a kamera csak a bemutatási rétegben jelenik meg.</a:t>
            </a:r>
          </a:p>
          <a:p>
            <a:r>
              <a:t>- A 20 Hz cél end-to-end p95-ben értendő, nem prediction-only időben.</a:t>
            </a:r>
          </a:p>
          <a:p>
            <a:r>
              <a:t>- A deployment hardverre vonatkozó állítás szándékosan korlátozott.</a:t>
            </a:r>
          </a:p>
          <a:p/>
          <a:p>
            <a:r>
              <a:t>Megkötés: a 50 ms-os küszöb az RTX 2080 Ti konfigurációján mért előzetes evidence.</a:t>
            </a:r>
          </a:p>
          <a:p>
            <a:r>
              <a:t>Átvezetés: nézzük meg, hogyan kapcsolódik össze a kutatási és a runtime oldal.</a:t>
            </a:r>
          </a:p>
          <a:p/>
          <a:p>
            <a:r>
              <a:t>[Sources]</a:t>
            </a:r>
          </a:p>
          <a:p>
            <a:r>
              <a:t>- docs/projektdokumentacio/projektdokumentacio.md</a:t>
            </a:r>
          </a:p>
          <a:p>
            <a:r>
              <a:t>- docs/projektdokumentacio/evidence_index.md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Fő mondanivaló: a kutatási és a bemutatási út között explicit határ van.</a:t>
            </a:r>
          </a:p>
          <a:p/>
          <a:p>
            <a:r>
              <a:t>Beszédpontok:</a:t>
            </a:r>
          </a:p>
          <a:p>
            <a:r>
              <a:t>- A detektor kimenete modellfüggetlen DetectionFrame-szerződés.</a:t>
            </a:r>
          </a:p>
          <a:p>
            <a:r>
              <a:t>- A tracker a nyers detekció után dolgozik; nem módosítja az AP-evidence-t.</a:t>
            </a:r>
          </a:p>
          <a:p>
            <a:r>
              <a:t>- ROS2-ban raw és tracked kimenet, TF, QoS és diagnosztika együtt jelenik meg.</a:t>
            </a:r>
          </a:p>
          <a:p/>
          <a:p>
            <a:r>
              <a:t>Megkötés: a beágyazott folyamatábra a repository tárolt rendszerarchitektúra-ábrájának logikáját követi; minden bemutatott doboz és kapcsolat szerkeszthető.</a:t>
            </a:r>
          </a:p>
          <a:p>
            <a:r>
              <a:t>Átvezetés: ehhez a runtime-döntéshez előbb korrekt, kontrollált összehasonlítás kellett.</a:t>
            </a:r>
          </a:p>
          <a:p/>
          <a:p>
            <a:r>
              <a:t>[Sources]</a:t>
            </a:r>
          </a:p>
          <a:p>
            <a:r>
              <a:t>- docs/projektdokumentacio/figures/rendszerarchitektura.svg</a:t>
            </a:r>
          </a:p>
          <a:p>
            <a:r>
              <a:t>- docs/architecture.md</a:t>
            </a:r>
          </a:p>
          <a:p>
            <a:r>
              <a:t>- docs/projektdokumentacio/projektdokumentacio.md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Fő mondanivaló: az összehasonlítás módszertanilag zárt keretben készült.</a:t>
            </a:r>
          </a:p>
          <a:p/>
          <a:p>
            <a:r>
              <a:t>Beszédpontok:</a:t>
            </a:r>
          </a:p>
          <a:p>
            <a:r>
              <a:t>- Mind a hat modell Car-only és 20 epochos.</a:t>
            </a:r>
          </a:p>
          <a:p>
            <a:r>
              <a:t>- A DCN és felbontásváltoztatásokat ugyanazon evaluation és benchmark szerződésben hasonlítottuk.</a:t>
            </a:r>
          </a:p>
          <a:p>
            <a:r>
              <a:t>- A hash-kötés megakadályozza, hogy egy számhoz később másik artifact társuljon.</a:t>
            </a:r>
          </a:p>
          <a:p/>
          <a:p>
            <a:r>
              <a:t>Megkötés: a KITTI release label nincs rögzítve; explicit waiver maradt a comparisonban.</a:t>
            </a:r>
          </a:p>
          <a:p>
            <a:r>
              <a:t>Átvezetés: a kontrollált térben nem egyetlen győztes, hanem két hasznos optimum rajzolódik ki.</a:t>
            </a:r>
          </a:p>
          <a:p/>
          <a:p>
            <a:r>
              <a:t>[Sources]</a:t>
            </a:r>
          </a:p>
          <a:p>
            <a:r>
              <a:t>- docs/projektdokumentacio/evidence_index.md#E1-E2</a:t>
            </a:r>
          </a:p>
          <a:p>
            <a:r>
              <a:t>- docs/presentation_assets/final/manifest.md</a:t>
            </a:r>
          </a:p>
          <a:p>
            <a:r>
              <a:t>- docs/references.bib — centerpoint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Fő mondanivaló: a felbontás növelése pontosságot ad, de késleltetést is kér; a pillar profilja a sebesség, a Voxel0075-é a pontosság.</a:t>
            </a:r>
          </a:p>
          <a:p/>
          <a:p>
            <a:r>
              <a:t>Beszédpontok:</a:t>
            </a:r>
          </a:p>
          <a:p>
            <a:r>
              <a:t>- A Voxel0075 moderate 3D AP40 értéke 66,17%, p95-je 35,33 ms.</a:t>
            </a:r>
          </a:p>
          <a:p>
            <a:r>
              <a:t>- A Pillar02 15,00 ms end-to-end p95 mellett 55,19% AP40-et ad.</a:t>
            </a:r>
          </a:p>
          <a:p>
            <a:r>
              <a:t>- A DCN nem került a Pareto-frontra.</a:t>
            </a:r>
          </a:p>
          <a:p/>
          <a:p>
            <a:r>
              <a:t>Megkötés: a frontier csak a hat azonos kampányú, 20 epochos Car-only futás között értelmezhető.</a:t>
            </a:r>
          </a:p>
          <a:p>
            <a:r>
              <a:t>Átvezetés: a sebességi cél nem csak a modelllépésről szól, ezért külön bontottuk a két mérési scope-ot.</a:t>
            </a:r>
          </a:p>
          <a:p/>
          <a:p>
            <a:r>
              <a:t>[Sources]</a:t>
            </a:r>
          </a:p>
          <a:p>
            <a:r>
              <a:t>- docs/presentation_assets/final/figures/hatmodell_pareto_3d_ap40_p95.png</a:t>
            </a:r>
          </a:p>
          <a:p>
            <a:r>
              <a:t>- docs/presentation_assets/final/manifest.md — hatmodell_pareto_3d_ap40_p95</a:t>
            </a:r>
          </a:p>
          <a:p>
            <a:r>
              <a:t>- docs/projektdokumentacio/evidence_index.md#E1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Fő mondanivaló: minden hat 20 epochos modell teljesítette az 50 ms-os end-to-end p95 célt ezen a hardveren.</a:t>
            </a:r>
          </a:p>
          <a:p/>
          <a:p>
            <a:r>
              <a:t>Beszédpontok:</a:t>
            </a:r>
          </a:p>
          <a:p>
            <a:r>
              <a:t>- A Pillar02 15,00 ms, a Voxel0075 35,33 ms end-to-end p95.</a:t>
            </a:r>
          </a:p>
          <a:p>
            <a:r>
              <a:t>- Az end-to-end scope az input iterator adat-előkészítését is tartalmazza.</a:t>
            </a:r>
          </a:p>
          <a:p>
            <a:r>
              <a:t>- A prediction-only p95 önmagában nem elég a streaming rendszer megítélésére.</a:t>
            </a:r>
          </a:p>
          <a:p/>
          <a:p>
            <a:r>
              <a:t>Megkötés: ez nem célhardveres vagy zero-drop garancia.</a:t>
            </a:r>
          </a:p>
          <a:p>
            <a:r>
              <a:t>Átvezetés: ezután azt kérdeztük, stabil-e a döntés hosszabb tanítás mellett.</a:t>
            </a:r>
          </a:p>
          <a:p/>
          <a:p>
            <a:r>
              <a:t>[Sources]</a:t>
            </a:r>
          </a:p>
          <a:p>
            <a:r>
              <a:t>- docs/presentation_assets/final/figures/hatmodell_p95_meresi_scope.png</a:t>
            </a:r>
          </a:p>
          <a:p>
            <a:r>
              <a:t>- docs/presentation_assets/final/manifest.md — hatmodell_p95_meresi_scope</a:t>
            </a:r>
          </a:p>
          <a:p>
            <a:r>
              <a:t>- docs/projektdokumentacio/evidence_index.md#E1-E2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Fő mondanivaló: a két finalistán a hosszabb tanítás eltérő irányú hatást mutatott.</a:t>
            </a:r>
          </a:p>
          <a:p/>
          <a:p>
            <a:r>
              <a:t>Beszédpontok:</a:t>
            </a:r>
          </a:p>
          <a:p>
            <a:r>
              <a:t>- Pillar02 minden AP40-szeletben javult; a p95 csak 0,09 ms-sal nőtt.</a:t>
            </a:r>
          </a:p>
          <a:p>
            <a:r>
              <a:t>- Voxel0075 moderate 3D AP40-je 0,36 százalékponttal romlott, az end-to-end p95 6,69 ms-sal nőtt.</a:t>
            </a:r>
          </a:p>
          <a:p>
            <a:r>
              <a:t>- A duration és a schedule együtt változott, ezért ez nem izolált hyperparameter-ablation.</a:t>
            </a:r>
          </a:p>
          <a:p/>
          <a:p>
            <a:r>
              <a:t>Megkötés: a 20/30 összevetés single-seed, KITTI validation evidence.</a:t>
            </a:r>
          </a:p>
          <a:p>
            <a:r>
              <a:t>Átvezetés: a Car-only fókusz mellett külön kellett megvizsgálni, hogy a pipeline több osztályt is kezel-e.</a:t>
            </a:r>
          </a:p>
          <a:p/>
          <a:p>
            <a:r>
              <a:t>[Sources]</a:t>
            </a:r>
          </a:p>
          <a:p>
            <a:r>
              <a:t>- docs/presentation_assets/final/figures/finalistak_eredmenymatrix.png</a:t>
            </a:r>
          </a:p>
          <a:p>
            <a:r>
              <a:t>- docs/presentation_assets/final/manifest.md — finalistak_eredmenymatrix</a:t>
            </a:r>
          </a:p>
          <a:p>
            <a:r>
              <a:t>- docs/presentation_handoff.md — Canonical paired comparison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Fő mondanivaló: a rendszer képes multiclass kimenetre, de ezt külön, Pillar02-alapú feasibility kísérletként kell kezelni.</a:t>
            </a:r>
          </a:p>
          <a:p/>
          <a:p>
            <a:r>
              <a:t>Beszédpontok:</a:t>
            </a:r>
          </a:p>
          <a:p>
            <a:r>
              <a:t>- A Car 3D AP40 moderate 66,92; Pedestrian 39,61; Cyclist 53,55.</a:t>
            </a:r>
          </a:p>
          <a:p>
            <a:r>
              <a:t>- A difficulty növekedésével minden osztály teljesítménye csökken.</a:t>
            </a:r>
          </a:p>
          <a:p>
            <a:r>
              <a:t>- A checkpoint az epoch 55, a futás 60 epochos.</a:t>
            </a:r>
          </a:p>
          <a:p>
            <a:r>
              <a:t>- A további architektúrák multiclass tanítása nem növelte volna a Car-fókuszú döntés értékét az adott időkeretben.</a:t>
            </a:r>
          </a:p>
          <a:p/>
          <a:p>
            <a:r>
              <a:t>Megkötés: nem rangsorolható közvetlenül a hat 20 epochos Car-only modellel.</a:t>
            </a:r>
          </a:p>
          <a:p>
            <a:r>
              <a:t>Átvezetés: a kiválasztott artifactok ezután a valós ROS2/Foxglove adatfolyamban is végigmentek.</a:t>
            </a:r>
          </a:p>
          <a:p/>
          <a:p>
            <a:r>
              <a:t>[Sources]</a:t>
            </a:r>
          </a:p>
          <a:p>
            <a:r>
              <a:t>- docs/presentation_assets/final/figures/pillar02_tobbosztalyos_ap40_matrix.png</a:t>
            </a:r>
          </a:p>
          <a:p>
            <a:r>
              <a:t>- docs/presentation_assets/final/manifest.md — pillar02_tobbosztalyos_ap40_matrix</a:t>
            </a:r>
          </a:p>
          <a:p>
            <a:r>
              <a:t>- docs/projektdokumentacio/evidence_index.md#E4-E6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Fő mondanivaló: a runtime lánc nem csak egy modellbetöltés; a teljes adat- és életciklus-út működött.</a:t>
            </a:r>
          </a:p>
          <a:p/>
          <a:p>
            <a:r>
              <a:t>Beszédpontok:</a:t>
            </a:r>
          </a:p>
          <a:p>
            <a:r>
              <a:t>- A voxel0075 modell fixed frame-be publikál, raw és tracked kimenettel.</a:t>
            </a:r>
          </a:p>
          <a:p>
            <a:r>
              <a:t>- A tracker stable ID-t, velocity arrowt, coasting állapotot és bounded trailt ad.</a:t>
            </a:r>
          </a:p>
          <a:p>
            <a:r>
              <a:t>- Backward seek után generation reset és DELETEALL történt, majd friss trackek indultak.</a:t>
            </a:r>
          </a:p>
          <a:p>
            <a:r>
              <a:t>- Diagnostics külön számlálja a DDS loss-t, queue replacementet és processing/tracking hibát.</a:t>
            </a:r>
          </a:p>
          <a:p/>
          <a:p>
            <a:r>
              <a:t>Megkötés: az élő DDS loss nem zero-drop bizonyíték; a tracking acceptance kvalitatív.</a:t>
            </a:r>
          </a:p>
          <a:p>
            <a:r>
              <a:t>Átvezetés: ezért a következő dián különválasztom, mi erős bizonyíték és mi maradt korlát.</a:t>
            </a:r>
          </a:p>
          <a:p/>
          <a:p>
            <a:r>
              <a:t>[Sources]</a:t>
            </a:r>
          </a:p>
          <a:p>
            <a:r>
              <a:t>- docs/tracked_foxglove_demo.md</a:t>
            </a:r>
          </a:p>
          <a:p>
            <a:r>
              <a:t>- docs/foxglove_playback.md</a:t>
            </a:r>
          </a:p>
          <a:p>
            <a:r>
              <a:t>- docs/presentation_handoff.md</a:t>
            </a:r>
          </a:p>
          <a:p>
            <a:r>
              <a:t>- docs/projektdokumentacio/evidence_index.md#E10-E11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Fő mondanivaló: az evidence értékes, de nem szabad túlígérni.</a:t>
            </a:r>
          </a:p>
          <a:p/>
          <a:p>
            <a:r>
              <a:t>Beszédpontok:</a:t>
            </a:r>
          </a:p>
          <a:p>
            <a:r>
              <a:t>- A modellválasztásra alkalmas validation comparison áll rendelkezésre.</a:t>
            </a:r>
          </a:p>
          <a:p>
            <a:r>
              <a:t>- Általánosításra sealed test, több seed és saját domain annotáció kell.</a:t>
            </a:r>
          </a:p>
          <a:p>
            <a:r>
              <a:t>- A Lexus bag runtime proof, nem tracking benchmark.</a:t>
            </a:r>
          </a:p>
          <a:p>
            <a:r>
              <a:t>- A baseline-ok evaluation/benchmark szinten auditáltak, de Foxglove-ban még nincsenek integrálva.</a:t>
            </a:r>
          </a:p>
          <a:p/>
          <a:p>
            <a:r>
              <a:t>Megkötés: TensorRT FP16/INT8 deployment jelenleg nincs mérve.</a:t>
            </a:r>
          </a:p>
          <a:p>
            <a:r>
              <a:t>Átvezetés: a korlátokból közvetlenül adódik egy rövid, célzott fejlesztési lista.</a:t>
            </a:r>
          </a:p>
          <a:p/>
          <a:p>
            <a:r>
              <a:t>[Sources]</a:t>
            </a:r>
          </a:p>
          <a:p>
            <a:r>
              <a:t>- docs/presentation_handoff.md</a:t>
            </a:r>
          </a:p>
          <a:p>
            <a:r>
              <a:t>- docs/presentation_assets/final/pretrained_baseline_audit.md</a:t>
            </a:r>
          </a:p>
          <a:p>
            <a:r>
              <a:t>- docs/projektdokumentacio/projektdokumentacio.md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Fő mondanivaló: a fejlesztési terv minden pontja egy konkrét jelenlegi korlátra válaszol.</a:t>
            </a:r>
          </a:p>
          <a:p/>
          <a:p>
            <a:r>
              <a:t>Beszédpontok:</a:t>
            </a:r>
          </a:p>
          <a:p>
            <a:r>
              <a:t>- Először a két finalistát kell kontrolláltan stabilizálni és több seeddel/sealed testtel ellenőrizni.</a:t>
            </a:r>
          </a:p>
          <a:p>
            <a:r>
              <a:t>- A saját adatok és temporal fusion a domain gapet célozza.</a:t>
            </a:r>
          </a:p>
          <a:p>
            <a:r>
              <a:t>- A tracker és a runtime külön benchmarkot igényel.</a:t>
            </a:r>
          </a:p>
          <a:p>
            <a:r>
              <a:t>- A deployment csak export, precision és célhardveres end-to-end mérés után tekinthető késznek.</a:t>
            </a:r>
          </a:p>
          <a:p/>
          <a:p>
            <a:r>
              <a:t>Átvezetés: összefoglalom, mi a projekt jelenlegi, védhető eredménye.</a:t>
            </a:r>
          </a:p>
          <a:p/>
          <a:p>
            <a:r>
              <a:t>[Sources]</a:t>
            </a:r>
          </a:p>
          <a:p>
            <a:r>
              <a:t>- docs/projektdokumentacio/projektdokumentacio.md — 18. Fejlesztési irányok</a:t>
            </a:r>
          </a:p>
          <a:p>
            <a:r>
              <a:t>- docs/presentation_handoff.md</a:t>
            </a:r>
          </a:p>
          <a:p>
            <a:r>
              <a:t>- docs/projektdokumentacio/references.bib — tensorrt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Fő mondanivaló: a projekt nem egyetlen abszolút benchmark-győztest állít, hanem szerep szerint választott, működő artifactokat és dokumentált korlátokat ad.</a:t>
            </a:r>
          </a:p>
          <a:p/>
          <a:p>
            <a:r>
              <a:t>Beszédpontok:</a:t>
            </a:r>
          </a:p>
          <a:p>
            <a:r>
              <a:t>- A Voxel0075 a pontossági demo, a Pillar02 a low-latency fallback.</a:t>
            </a:r>
          </a:p>
          <a:p>
            <a:r>
              <a:t>- A multiclass eredmény külön feasibility proof.</a:t>
            </a:r>
          </a:p>
          <a:p>
            <a:r>
              <a:t>- A ROS2/Foxglove/tracking útvonal elfogadási szinten működik.</a:t>
            </a:r>
          </a:p>
          <a:p>
            <a:r>
              <a:t>- A következő mérföldkő sealed test, saját domain és célhardveres deployment.</a:t>
            </a:r>
          </a:p>
          <a:p/>
          <a:p>
            <a:r>
              <a:t>Megkötés: a jelenlegi eredmények validation-only és single-seed evidence-ek.</a:t>
            </a:r>
          </a:p>
          <a:p>
            <a:r>
              <a:t>Átvezetés: a függelék a definíciókat, baseline auditot és a forrásokat tartalmazza.</a:t>
            </a:r>
          </a:p>
          <a:p/>
          <a:p>
            <a:r>
              <a:t>[Sources]</a:t>
            </a:r>
          </a:p>
          <a:p>
            <a:r>
              <a:t>- docs/presentation_handoff.md</a:t>
            </a:r>
          </a:p>
          <a:p>
            <a:r>
              <a:t>- docs/projektdokumentacio/projektdokumentacio.md</a:t>
            </a:r>
          </a:p>
          <a:p>
            <a:r>
              <a:t>- docs/projektdokumentacio/evidence_index.md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függelék célja a szakértői kérdések támogatása, nem a fő narratíva része.</a:t>
            </a:r>
          </a:p>
          <a:p/>
          <a:p>
            <a:r>
              <a:t>Beszédpontok:</a:t>
            </a:r>
          </a:p>
          <a:p>
            <a:r>
              <a:t>- A fő modellválasztási tengely a Car 3D AP40 moderate strict.</a:t>
            </a:r>
          </a:p>
          <a:p>
            <a:r>
              <a:t>- A mátrixok a 3D és BEV AP40 strict szeleteket együtt mutatják.</a:t>
            </a:r>
          </a:p>
          <a:p>
            <a:r>
              <a:t>- Az AP40 aggregált metrika; nem rekonstruálható belőle per-frame PR-görbe vagy confusion matrix.</a:t>
            </a:r>
          </a:p>
          <a:p/>
          <a:p>
            <a:r>
              <a:t>[Sources]</a:t>
            </a:r>
          </a:p>
          <a:p>
            <a:r>
              <a:t>- docs/projektdokumentacio/projektdokumentacio.md — 4.4 Metrikák</a:t>
            </a:r>
          </a:p>
          <a:p>
            <a:r>
              <a:t>- docs/references.bib — kitti, kitti_object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baseline audit fő állítása: a két hivatalos referencia ugyanazon KITTI validation adaton magasabb AP40-et adott, de eltérő, hosszabb és érettebb training recipe-t használ.</a:t>
            </a:r>
          </a:p>
          <a:p/>
          <a:p>
            <a:r>
              <a:t>Beszédpontok:</a:t>
            </a:r>
          </a:p>
          <a:p>
            <a:r>
              <a:t>- Official PointPillars: 79,13 AP40 és 20,25 ms p95.</a:t>
            </a:r>
          </a:p>
          <a:p>
            <a:r>
              <a:t>- Official SECOND: 81,33 AP40 és 29,52 ms p95.</a:t>
            </a:r>
          </a:p>
          <a:p>
            <a:r>
              <a:t>- Ezek nem a közös Foxglove runtime modelljei.</a:t>
            </a:r>
          </a:p>
          <a:p>
            <a:r>
              <a:t>- A projektmodell kiválasztási döntését ezért nem írják felül.</a:t>
            </a:r>
          </a:p>
          <a:p/>
          <a:p>
            <a:r>
              <a:t>Megkötés: a baseline-ok evaluation és benchmark szinten auditáltak; runtime-integrációjuk még hiányzik.</a:t>
            </a:r>
          </a:p>
          <a:p/>
          <a:p>
            <a:r>
              <a:t>[Sources]</a:t>
            </a:r>
          </a:p>
          <a:p>
            <a:r>
              <a:t>- docs/presentation_assets/final/pretrained_baseline_audit.md</a:t>
            </a:r>
          </a:p>
          <a:p>
            <a:r>
              <a:t>- docs/projektdokumentacio/evidence_index.md#E7-E9</a:t>
            </a:r>
          </a:p>
          <a:p>
            <a:r>
              <a:t>- docs/projektdokumentacio/references.bib — pointpillars, second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függelék a rövid hivatkozások feloldása.</a:t>
            </a:r>
          </a:p>
          <a:p/>
          <a:p>
            <a:r>
              <a:t>Beszédpontok:</a:t>
            </a:r>
          </a:p>
          <a:p>
            <a:r>
              <a:t>- A nem triviális külső állításokhoz rövid [1]–[5] jelölés tartozik.</a:t>
            </a:r>
          </a:p>
          <a:p>
            <a:r>
              <a:t>- A saját eredmények E1–E11 evidence indexből vezethetők vissza.</a:t>
            </a:r>
          </a:p>
          <a:p>
            <a:r>
              <a:t>- A részletes forrásútvonalak a notes [Sources] blokkjában is szerepelnek.</a:t>
            </a:r>
          </a:p>
          <a:p/>
          <a:p>
            <a:r>
              <a:t>[Sources]</a:t>
            </a:r>
          </a:p>
          <a:p>
            <a:r>
              <a:t>- docs/projektdokumentacio/references.bib</a:t>
            </a:r>
          </a:p>
          <a:p>
            <a:r>
              <a:t>- docs/projektdokumentacio/evidence_index.md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85C99"/>
          </a:solidFill>
          <a:ln w="10160">
            <a:solidFill>
              <a:srgbClr val="285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6766560" cy="22402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5000" b="1" i="0">
                <a:solidFill>
                  <a:srgbClr val="17202A"/>
                </a:solidFill>
                <a:latin typeface="Aptos"/>
              </a:rPr>
              <a:t>LiDAR-alapú
3D objektumdetektálás
CenterPointtal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041648"/>
            <a:ext cx="71323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0" i="0">
                <a:solidFill>
                  <a:srgbClr val="285C99"/>
                </a:solidFill>
                <a:latin typeface="Aptos"/>
              </a:rPr>
              <a:t>Mérési evidence, modellválasztás és működő ROS2/Foxglove útvonal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06440"/>
            <a:ext cx="2743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600" b="0" i="0">
                <a:solidFill>
                  <a:srgbClr val="566270"/>
                </a:solidFill>
                <a:latin typeface="Aptos"/>
              </a:rPr>
              <a:t>Projektbemutató  |  2026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412480" y="1097280"/>
            <a:ext cx="0" cy="4480560"/>
          </a:xfrm>
          <a:prstGeom prst="line">
            <a:avLst/>
          </a:prstGeom>
          <a:ln w="15240">
            <a:solidFill>
              <a:srgbClr val="D5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9052560" y="1828800"/>
            <a:ext cx="91440" cy="91440"/>
          </a:xfrm>
          <a:prstGeom prst="ellipse">
            <a:avLst/>
          </a:prstGeom>
          <a:solidFill>
            <a:srgbClr val="285C99"/>
          </a:solidFill>
          <a:ln w="10160">
            <a:solidFill>
              <a:srgbClr val="285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464040" y="2240280"/>
            <a:ext cx="73152" cy="73152"/>
          </a:xfrm>
          <a:prstGeom prst="ellipse">
            <a:avLst/>
          </a:prstGeom>
          <a:solidFill>
            <a:srgbClr val="6E9ED0"/>
          </a:solidFill>
          <a:ln w="10160">
            <a:solidFill>
              <a:srgbClr val="6E9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29800" y="2011680"/>
            <a:ext cx="73152" cy="73152"/>
          </a:xfrm>
          <a:prstGeom prst="ellipse">
            <a:avLst/>
          </a:prstGeom>
          <a:solidFill>
            <a:srgbClr val="2A8B92"/>
          </a:solidFill>
          <a:ln w="10160">
            <a:solidFill>
              <a:srgbClr val="2A8B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424160" y="2560320"/>
            <a:ext cx="109728" cy="109728"/>
          </a:xfrm>
          <a:prstGeom prst="ellipse">
            <a:avLst/>
          </a:prstGeom>
          <a:solidFill>
            <a:srgbClr val="285C99"/>
          </a:solidFill>
          <a:ln w="10160">
            <a:solidFill>
              <a:srgbClr val="285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235440" y="3246120"/>
            <a:ext cx="73152" cy="73152"/>
          </a:xfrm>
          <a:prstGeom prst="ellipse">
            <a:avLst/>
          </a:prstGeom>
          <a:solidFill>
            <a:srgbClr val="2A8B92"/>
          </a:solidFill>
          <a:ln w="10160">
            <a:solidFill>
              <a:srgbClr val="2A8B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149840" y="3291840"/>
            <a:ext cx="91440" cy="91440"/>
          </a:xfrm>
          <a:prstGeom prst="ellipse">
            <a:avLst/>
          </a:prstGeom>
          <a:solidFill>
            <a:srgbClr val="6E9ED0"/>
          </a:solidFill>
          <a:ln w="10160">
            <a:solidFill>
              <a:srgbClr val="6E9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789920" y="3063240"/>
            <a:ext cx="73152" cy="73152"/>
          </a:xfrm>
          <a:prstGeom prst="ellipse">
            <a:avLst/>
          </a:prstGeom>
          <a:solidFill>
            <a:srgbClr val="285C99"/>
          </a:solidFill>
          <a:ln w="10160">
            <a:solidFill>
              <a:srgbClr val="285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738360" y="3977639"/>
            <a:ext cx="100584" cy="100584"/>
          </a:xfrm>
          <a:prstGeom prst="ellipse">
            <a:avLst/>
          </a:prstGeom>
          <a:solidFill>
            <a:srgbClr val="285C99"/>
          </a:solidFill>
          <a:ln w="10160">
            <a:solidFill>
              <a:srgbClr val="285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469880" y="4297680"/>
            <a:ext cx="73152" cy="73152"/>
          </a:xfrm>
          <a:prstGeom prst="ellipse">
            <a:avLst/>
          </a:prstGeom>
          <a:solidFill>
            <a:srgbClr val="2A8B92"/>
          </a:solidFill>
          <a:ln w="10160">
            <a:solidFill>
              <a:srgbClr val="2A8B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018520" y="3886200"/>
            <a:ext cx="91440" cy="91440"/>
          </a:xfrm>
          <a:prstGeom prst="ellipse">
            <a:avLst/>
          </a:prstGeom>
          <a:solidFill>
            <a:srgbClr val="6E9ED0"/>
          </a:solidFill>
          <a:ln w="10160">
            <a:solidFill>
              <a:srgbClr val="6E9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006840" y="4663440"/>
            <a:ext cx="73152" cy="73152"/>
          </a:xfrm>
          <a:prstGeom prst="ellipse">
            <a:avLst/>
          </a:prstGeom>
          <a:solidFill>
            <a:srgbClr val="6E9ED0"/>
          </a:solidFill>
          <a:ln w="10160">
            <a:solidFill>
              <a:srgbClr val="6E9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0" y="4892040"/>
            <a:ext cx="91440" cy="91440"/>
          </a:xfrm>
          <a:prstGeom prst="ellipse">
            <a:avLst/>
          </a:prstGeom>
          <a:solidFill>
            <a:srgbClr val="285C99"/>
          </a:solidFill>
          <a:ln w="10160">
            <a:solidFill>
              <a:srgbClr val="285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006840" y="1828800"/>
            <a:ext cx="192024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85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9006840" y="1828800"/>
            <a:ext cx="1920240" cy="0"/>
          </a:xfrm>
          <a:prstGeom prst="line">
            <a:avLst/>
          </a:prstGeom>
          <a:ln w="15240">
            <a:solidFill>
              <a:srgbClr val="285C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927080" y="1828800"/>
            <a:ext cx="0" cy="1371600"/>
          </a:xfrm>
          <a:prstGeom prst="line">
            <a:avLst/>
          </a:prstGeom>
          <a:ln w="15240">
            <a:solidFill>
              <a:srgbClr val="285C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9006840" y="3200400"/>
            <a:ext cx="1920240" cy="0"/>
          </a:xfrm>
          <a:prstGeom prst="line">
            <a:avLst/>
          </a:prstGeom>
          <a:ln w="15240">
            <a:solidFill>
              <a:srgbClr val="285C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9006840" y="1828800"/>
            <a:ext cx="0" cy="1371600"/>
          </a:xfrm>
          <a:prstGeom prst="line">
            <a:avLst/>
          </a:prstGeom>
          <a:ln w="15240">
            <a:solidFill>
              <a:srgbClr val="285C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555480" y="3657600"/>
            <a:ext cx="192024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A8B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9555480" y="3657600"/>
            <a:ext cx="1920240" cy="0"/>
          </a:xfrm>
          <a:prstGeom prst="line">
            <a:avLst/>
          </a:prstGeom>
          <a:ln w="15240">
            <a:solidFill>
              <a:srgbClr val="2A8B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1475720" y="3657600"/>
            <a:ext cx="0" cy="1371600"/>
          </a:xfrm>
          <a:prstGeom prst="line">
            <a:avLst/>
          </a:prstGeom>
          <a:ln w="15240">
            <a:solidFill>
              <a:srgbClr val="2A8B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9555480" y="5029200"/>
            <a:ext cx="1920240" cy="0"/>
          </a:xfrm>
          <a:prstGeom prst="line">
            <a:avLst/>
          </a:prstGeom>
          <a:ln w="15240">
            <a:solidFill>
              <a:srgbClr val="2A8B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9555480" y="3657600"/>
            <a:ext cx="0" cy="1371600"/>
          </a:xfrm>
          <a:prstGeom prst="line">
            <a:avLst/>
          </a:prstGeom>
          <a:ln w="15240">
            <a:solidFill>
              <a:srgbClr val="2A8B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144000" y="2761488"/>
            <a:ext cx="6400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285C99"/>
                </a:solidFill>
                <a:latin typeface="Aptos"/>
              </a:rPr>
              <a:t>Car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65792" y="4590288"/>
            <a:ext cx="10972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2A8B92"/>
                </a:solidFill>
                <a:latin typeface="Aptos"/>
              </a:rPr>
              <a:t>Car #12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016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85C99"/>
          </a:solidFill>
          <a:ln w="10160">
            <a:solidFill>
              <a:srgbClr val="285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1024128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500" b="1" i="0">
                <a:solidFill>
                  <a:srgbClr val="17202A"/>
                </a:solidFill>
                <a:latin typeface="Aptos"/>
              </a:rPr>
              <a:t>A cél: pontos és gyors 3D detektor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77824"/>
            <a:ext cx="101498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600" b="0" i="0">
                <a:solidFill>
                  <a:srgbClr val="566270"/>
                </a:solidFill>
                <a:latin typeface="Aptos"/>
              </a:rPr>
              <a:t>A modellválasztás nem egyetlen AP-szám maximalizálása.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384048"/>
            <a:ext cx="685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100" b="0" i="0">
                <a:solidFill>
                  <a:srgbClr val="566270"/>
                </a:solidFill>
                <a:latin typeface="Aptos"/>
              </a:rPr>
              <a:t>02 / 15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6455664"/>
            <a:ext cx="11045952" cy="0"/>
          </a:xfrm>
          <a:prstGeom prst="line">
            <a:avLst/>
          </a:prstGeom>
          <a:ln w="10160">
            <a:solidFill>
              <a:srgbClr val="D5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94360" y="6492240"/>
            <a:ext cx="68580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566270"/>
                </a:solidFill>
                <a:latin typeface="Aptos"/>
              </a:rPr>
              <a:t>LiDAR CenterPoint  |  Saját mérés — KITTI validation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17320"/>
            <a:ext cx="489204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17320"/>
            <a:ext cx="91440" cy="1325880"/>
          </a:xfrm>
          <a:prstGeom prst="rect">
            <a:avLst/>
          </a:prstGeom>
          <a:solidFill>
            <a:srgbClr val="285C99"/>
          </a:solidFill>
          <a:ln w="10160">
            <a:solidFill>
              <a:srgbClr val="285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1618488"/>
            <a:ext cx="43434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300" b="1" i="0">
                <a:solidFill>
                  <a:srgbClr val="17202A"/>
                </a:solidFill>
                <a:latin typeface="Aptos"/>
              </a:rPr>
              <a:t>Pontfelhő → 3D járműdetekció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075688"/>
            <a:ext cx="4315968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600" b="0" i="0">
                <a:solidFill>
                  <a:srgbClr val="566270"/>
                </a:solidFill>
                <a:latin typeface="Aptos"/>
              </a:rPr>
              <a:t>LiDAR-only input; a kamera nem része a detektor bemenetének.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17320"/>
            <a:ext cx="489204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417320"/>
            <a:ext cx="91440" cy="1325880"/>
          </a:xfrm>
          <a:prstGeom prst="rect">
            <a:avLst/>
          </a:prstGeom>
          <a:solidFill>
            <a:srgbClr val="285C99"/>
          </a:solidFill>
          <a:ln w="10160">
            <a:solidFill>
              <a:srgbClr val="285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618488"/>
            <a:ext cx="43434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300" b="1" i="0">
                <a:solidFill>
                  <a:srgbClr val="17202A"/>
                </a:solidFill>
                <a:latin typeface="Aptos"/>
              </a:rPr>
              <a:t>Nagy pontosság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2075688"/>
            <a:ext cx="4315968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600" b="0" i="0">
                <a:solidFill>
                  <a:srgbClr val="566270"/>
                </a:solidFill>
                <a:latin typeface="Aptos"/>
              </a:rPr>
              <a:t>KITTI Car 3D AP40, strict, több difficulty-szinten.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383280"/>
            <a:ext cx="489204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383280"/>
            <a:ext cx="91440" cy="1325880"/>
          </a:xfrm>
          <a:prstGeom prst="rect">
            <a:avLst/>
          </a:prstGeom>
          <a:solidFill>
            <a:srgbClr val="2A8B92"/>
          </a:solidFill>
          <a:ln w="10160">
            <a:solidFill>
              <a:srgbClr val="2A8B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3584448"/>
            <a:ext cx="43434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300" b="1" i="0">
                <a:solidFill>
                  <a:srgbClr val="17202A"/>
                </a:solidFill>
                <a:latin typeface="Aptos"/>
              </a:rPr>
              <a:t>Valós idejű út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4041648"/>
            <a:ext cx="4315968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600" b="0" i="0">
                <a:solidFill>
                  <a:srgbClr val="566270"/>
                </a:solidFill>
                <a:latin typeface="Aptos"/>
              </a:rPr>
              <a:t>End-to-end p95 ≤ 50 ms mint előzetes 20 Hz cél.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383280"/>
            <a:ext cx="489204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3383280"/>
            <a:ext cx="91440" cy="1325880"/>
          </a:xfrm>
          <a:prstGeom prst="rect">
            <a:avLst/>
          </a:prstGeom>
          <a:solidFill>
            <a:srgbClr val="2A8B92"/>
          </a:solidFill>
          <a:ln w="10160">
            <a:solidFill>
              <a:srgbClr val="2A8B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3584448"/>
            <a:ext cx="43434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300" b="1" i="0">
                <a:solidFill>
                  <a:srgbClr val="17202A"/>
                </a:solidFill>
                <a:latin typeface="Aptos"/>
              </a:rPr>
              <a:t>Későbbi célhardver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4041648"/>
            <a:ext cx="4315968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600" b="0" i="0">
                <a:solidFill>
                  <a:srgbClr val="566270"/>
                </a:solidFill>
                <a:latin typeface="Aptos"/>
              </a:rPr>
              <a:t>A mostani RTX 2080 Ti mérés nem garancia gyengébb hardverre.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623560"/>
            <a:ext cx="1060704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300" b="1" i="0">
                <a:solidFill>
                  <a:srgbClr val="285C99"/>
                </a:solidFill>
                <a:latin typeface="Aptos"/>
              </a:rPr>
              <a:t>A kérdés: melyik architektúra adja a legjobb pontosság–késleltetés profilt, és mennyire stabil ez a döntés?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016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85C99"/>
          </a:solidFill>
          <a:ln w="10160">
            <a:solidFill>
              <a:srgbClr val="285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1024128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500" b="1" i="0">
                <a:solidFill>
                  <a:srgbClr val="17202A"/>
                </a:solidFill>
                <a:latin typeface="Aptos"/>
              </a:rPr>
              <a:t>Az evidence a runtime-szerződésbe fut be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77824"/>
            <a:ext cx="101498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600" b="0" i="0">
                <a:solidFill>
                  <a:srgbClr val="566270"/>
                </a:solidFill>
                <a:latin typeface="Aptos"/>
              </a:rPr>
              <a:t>Adat → modell → DetectionFrame → tracking → ROS2/Foxglove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384048"/>
            <a:ext cx="685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100" b="0" i="0">
                <a:solidFill>
                  <a:srgbClr val="566270"/>
                </a:solidFill>
                <a:latin typeface="Aptos"/>
              </a:rPr>
              <a:t>03 / 15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6455664"/>
            <a:ext cx="11045952" cy="0"/>
          </a:xfrm>
          <a:prstGeom prst="line">
            <a:avLst/>
          </a:prstGeom>
          <a:ln w="10160">
            <a:solidFill>
              <a:srgbClr val="D5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94360" y="6492240"/>
            <a:ext cx="68580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566270"/>
                </a:solidFill>
                <a:latin typeface="Aptos"/>
              </a:rPr>
              <a:t>LiDAR CenterPoint  |  Saját mérés — KITTI validation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37360"/>
            <a:ext cx="1783080" cy="1554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93392"/>
            <a:ext cx="155448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800" b="1" i="0">
                <a:solidFill>
                  <a:srgbClr val="17202A"/>
                </a:solidFill>
                <a:latin typeface="Aptos"/>
              </a:rPr>
              <a:t>LiDAR / MCAP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651760"/>
            <a:ext cx="155448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0" i="0">
                <a:solidFill>
                  <a:srgbClr val="566270"/>
                </a:solidFill>
                <a:latin typeface="Aptos"/>
              </a:rPr>
              <a:t>PointCloud2
TF + /clock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468880" y="2468880"/>
            <a:ext cx="301752" cy="0"/>
          </a:xfrm>
          <a:prstGeom prst="line">
            <a:avLst/>
          </a:prstGeom>
          <a:ln w="22860">
            <a:solidFill>
              <a:srgbClr val="285C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80360" y="1737360"/>
            <a:ext cx="1783080" cy="1554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85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9232" y="1993392"/>
            <a:ext cx="155448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800" b="1" i="0">
                <a:solidFill>
                  <a:srgbClr val="17202A"/>
                </a:solidFill>
                <a:latin typeface="Aptos"/>
              </a:rPr>
              <a:t>CenterPoint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9232" y="2651760"/>
            <a:ext cx="155448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0" i="0">
                <a:solidFill>
                  <a:srgbClr val="566270"/>
                </a:solidFill>
                <a:latin typeface="Aptos"/>
              </a:rPr>
              <a:t>pillar / voxel
Car / multiclass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663440" y="2468880"/>
            <a:ext cx="301752" cy="0"/>
          </a:xfrm>
          <a:prstGeom prst="line">
            <a:avLst/>
          </a:prstGeom>
          <a:ln w="22860">
            <a:solidFill>
              <a:srgbClr val="285C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074920" y="1737360"/>
            <a:ext cx="1783080" cy="1554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85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93792" y="1993392"/>
            <a:ext cx="155448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800" b="1" i="0">
                <a:solidFill>
                  <a:srgbClr val="17202A"/>
                </a:solidFill>
                <a:latin typeface="Aptos"/>
              </a:rPr>
              <a:t>Detection
Frame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93792" y="2651760"/>
            <a:ext cx="155448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0" i="0">
                <a:solidFill>
                  <a:srgbClr val="566270"/>
                </a:solidFill>
                <a:latin typeface="Aptos"/>
              </a:rPr>
              <a:t>valid 3D box
score + label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0" y="2468880"/>
            <a:ext cx="301752" cy="0"/>
          </a:xfrm>
          <a:prstGeom prst="line">
            <a:avLst/>
          </a:prstGeom>
          <a:ln w="22860">
            <a:solidFill>
              <a:srgbClr val="285C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269480" y="1737360"/>
            <a:ext cx="1783080" cy="1554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88352" y="1993392"/>
            <a:ext cx="155448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800" b="1" i="0">
                <a:solidFill>
                  <a:srgbClr val="17202A"/>
                </a:solidFill>
                <a:latin typeface="Aptos"/>
              </a:rPr>
              <a:t>Tracker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88352" y="2651760"/>
            <a:ext cx="155448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0" i="0">
                <a:solidFill>
                  <a:srgbClr val="566270"/>
                </a:solidFill>
                <a:latin typeface="Aptos"/>
              </a:rPr>
              <a:t>stable ID
velocity + trail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052560" y="2468880"/>
            <a:ext cx="301752" cy="0"/>
          </a:xfrm>
          <a:prstGeom prst="line">
            <a:avLst/>
          </a:prstGeom>
          <a:ln w="22860">
            <a:solidFill>
              <a:srgbClr val="285C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464040" y="1737360"/>
            <a:ext cx="1783080" cy="1554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82912" y="1993392"/>
            <a:ext cx="155448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800" b="1" i="0">
                <a:solidFill>
                  <a:srgbClr val="17202A"/>
                </a:solidFill>
                <a:latin typeface="Aptos"/>
              </a:rPr>
              <a:t>ROS2 / Foxglove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82912" y="2651760"/>
            <a:ext cx="155448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0" i="0">
                <a:solidFill>
                  <a:srgbClr val="566270"/>
                </a:solidFill>
                <a:latin typeface="Aptos"/>
              </a:rPr>
              <a:t>raw + tracked
fixed frame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1170432"/>
            <a:ext cx="2880360" cy="310896"/>
          </a:xfrm>
          <a:prstGeom prst="roundRect">
            <a:avLst>
              <a:gd name="adj" fmla="val 25000"/>
            </a:avLst>
          </a:prstGeom>
          <a:solidFill>
            <a:srgbClr val="E8F0F8"/>
          </a:solidFill>
          <a:ln w="10160">
            <a:solidFill>
              <a:srgbClr val="E8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1207008"/>
            <a:ext cx="278892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300" b="1" i="0">
                <a:solidFill>
                  <a:srgbClr val="285C99"/>
                </a:solidFill>
                <a:latin typeface="Aptos"/>
              </a:rPr>
              <a:t>run / config / checkpoint hash-kötés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60520" y="3977639"/>
            <a:ext cx="2331720" cy="310896"/>
          </a:xfrm>
          <a:prstGeom prst="roundRect">
            <a:avLst>
              <a:gd name="adj" fmla="val 25000"/>
            </a:avLst>
          </a:prstGeom>
          <a:solidFill>
            <a:srgbClr val="E9F4F1"/>
          </a:solidFill>
          <a:ln w="10160">
            <a:solidFill>
              <a:srgbClr val="E9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6240" y="4014215"/>
            <a:ext cx="2240279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300" b="1" i="0">
                <a:solidFill>
                  <a:srgbClr val="2A8B92"/>
                </a:solidFill>
                <a:latin typeface="Aptos"/>
              </a:rPr>
              <a:t>TF + QoS + lifecycle reset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03720" y="3977639"/>
            <a:ext cx="2834640" cy="310896"/>
          </a:xfrm>
          <a:prstGeom prst="roundRect">
            <a:avLst>
              <a:gd name="adj" fmla="val 25000"/>
            </a:avLst>
          </a:prstGeom>
          <a:solidFill>
            <a:srgbClr val="FFF1E5"/>
          </a:solidFill>
          <a:ln w="10160">
            <a:solidFill>
              <a:srgbClr val="FFF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0" y="4014215"/>
            <a:ext cx="274320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300" b="1" i="0">
                <a:solidFill>
                  <a:srgbClr val="E68A2E"/>
                </a:solidFill>
                <a:latin typeface="Aptos"/>
              </a:rPr>
              <a:t>benchmark: prediction vs end-to-end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989320" y="3136392"/>
            <a:ext cx="0" cy="777240"/>
          </a:xfrm>
          <a:prstGeom prst="line">
            <a:avLst/>
          </a:prstGeom>
          <a:ln w="17780">
            <a:solidFill>
              <a:srgbClr val="2A8B9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366760" y="3136392"/>
            <a:ext cx="0" cy="777240"/>
          </a:xfrm>
          <a:prstGeom prst="line">
            <a:avLst/>
          </a:prstGeom>
          <a:ln w="17780">
            <a:solidFill>
              <a:srgbClr val="E68A2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49808" y="5532120"/>
            <a:ext cx="77724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566270"/>
                </a:solidFill>
                <a:latin typeface="Aptos"/>
              </a:rPr>
              <a:t>A részletes forrásábra: docs/projektdokumentacio/figures/rendszerarchitektura.svg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" y="5879592"/>
            <a:ext cx="59436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566270"/>
                </a:solidFill>
                <a:latin typeface="Aptos"/>
              </a:rPr>
              <a:t>A diagram szerkeszthető natív PowerPoint-alakzatokból áll.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016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85C99"/>
          </a:solidFill>
          <a:ln w="10160">
            <a:solidFill>
              <a:srgbClr val="285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1024128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500" b="1" i="0">
                <a:solidFill>
                  <a:srgbClr val="17202A"/>
                </a:solidFill>
                <a:latin typeface="Aptos"/>
              </a:rPr>
              <a:t>Hat modell, egy kontrollált mérési keret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77824"/>
            <a:ext cx="101498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600" b="0" i="0">
                <a:solidFill>
                  <a:srgbClr val="566270"/>
                </a:solidFill>
                <a:latin typeface="Aptos"/>
              </a:rPr>
              <a:t>A rangsor csak kompatibilis, run-owned evidence-ből készült.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384048"/>
            <a:ext cx="685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100" b="0" i="0">
                <a:solidFill>
                  <a:srgbClr val="566270"/>
                </a:solidFill>
                <a:latin typeface="Aptos"/>
              </a:rPr>
              <a:t>04 / 15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6455664"/>
            <a:ext cx="11045952" cy="0"/>
          </a:xfrm>
          <a:prstGeom prst="line">
            <a:avLst/>
          </a:prstGeom>
          <a:ln w="10160">
            <a:solidFill>
              <a:srgbClr val="D5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94360" y="6492240"/>
            <a:ext cx="68580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566270"/>
                </a:solidFill>
                <a:latin typeface="Aptos"/>
              </a:rPr>
              <a:t>LiDAR CenterPoint  |  Saját mérés — KITTI validation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325880"/>
          <a:ext cx="5623560" cy="4315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4114800"/>
              </a:tblGrid>
              <a:tr h="616566"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Változó</a:t>
                      </a:r>
                    </a:p>
                  </a:txBody>
                  <a:tcPr marL="54864" marR="45720" marT="36576" marB="27432">
                    <a:solidFill>
                      <a:srgbClr val="285C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Közös beállítás</a:t>
                      </a:r>
                    </a:p>
                  </a:txBody>
                  <a:tcPr marL="54864" marR="45720" marT="36576" marB="27432">
                    <a:solidFill>
                      <a:srgbClr val="285C99"/>
                    </a:solidFill>
                  </a:tcPr>
                </a:tc>
              </a:tr>
              <a:tr h="616566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17202A"/>
                          </a:solidFill>
                          <a:latin typeface="Aptos"/>
                        </a:defRPr>
                      </a:pPr>
                      <a:r>
                        <a:t>Feladat</a:t>
                      </a:r>
                    </a:p>
                  </a:txBody>
                  <a:tcPr marL="54864" marR="45720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7202A"/>
                          </a:solidFill>
                          <a:latin typeface="Aptos"/>
                        </a:defRPr>
                      </a:pPr>
                      <a:r>
                        <a:t>Car-only 3D detektálás</a:t>
                      </a:r>
                    </a:p>
                  </a:txBody>
                  <a:tcPr marL="54864" marR="45720" marT="36576" marB="27432">
                    <a:solidFill>
                      <a:srgbClr val="FFFFFF"/>
                    </a:solidFill>
                  </a:tcPr>
                </a:tc>
              </a:tr>
              <a:tr h="616566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17202A"/>
                          </a:solidFill>
                          <a:latin typeface="Aptos"/>
                        </a:defRPr>
                      </a:pPr>
                      <a:r>
                        <a:t>Architektúra</a:t>
                      </a:r>
                    </a:p>
                  </a:txBody>
                  <a:tcPr marL="54864" marR="45720" marT="36576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7202A"/>
                          </a:solidFill>
                          <a:latin typeface="Aptos"/>
                        </a:defRPr>
                      </a:pPr>
                      <a:r>
                        <a:t>pillar / voxel; DCN / nem DCN</a:t>
                      </a:r>
                    </a:p>
                  </a:txBody>
                  <a:tcPr marL="54864" marR="45720" marT="36576" marB="27432">
                    <a:solidFill>
                      <a:srgbClr val="F4F7FA"/>
                    </a:solidFill>
                  </a:tcPr>
                </a:tc>
              </a:tr>
              <a:tr h="616566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17202A"/>
                          </a:solidFill>
                          <a:latin typeface="Aptos"/>
                        </a:defRPr>
                      </a:pPr>
                      <a:r>
                        <a:t>Tanítás</a:t>
                      </a:r>
                    </a:p>
                  </a:txBody>
                  <a:tcPr marL="54864" marR="45720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7202A"/>
                          </a:solidFill>
                          <a:latin typeface="Aptos"/>
                        </a:defRPr>
                      </a:pPr>
                      <a:r>
                        <a:t>20 epoch; batch size 1</a:t>
                      </a:r>
                    </a:p>
                  </a:txBody>
                  <a:tcPr marL="54864" marR="45720" marT="36576" marB="27432">
                    <a:solidFill>
                      <a:srgbClr val="FFFFFF"/>
                    </a:solidFill>
                  </a:tcPr>
                </a:tc>
              </a:tr>
              <a:tr h="616566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17202A"/>
                          </a:solidFill>
                          <a:latin typeface="Aptos"/>
                        </a:defRPr>
                      </a:pPr>
                      <a:r>
                        <a:t>Kiértékelés</a:t>
                      </a:r>
                    </a:p>
                  </a:txBody>
                  <a:tcPr marL="54864" marR="45720" marT="36576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7202A"/>
                          </a:solidFill>
                          <a:latin typeface="Aptos"/>
                        </a:defRPr>
                      </a:pPr>
                      <a:r>
                        <a:t>KITTI validation; AP40 strict</a:t>
                      </a:r>
                    </a:p>
                  </a:txBody>
                  <a:tcPr marL="54864" marR="45720" marT="36576" marB="27432">
                    <a:solidFill>
                      <a:srgbClr val="F4F7FA"/>
                    </a:solidFill>
                  </a:tcPr>
                </a:tc>
              </a:tr>
              <a:tr h="616566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17202A"/>
                          </a:solidFill>
                          <a:latin typeface="Aptos"/>
                        </a:defRPr>
                      </a:pPr>
                      <a:r>
                        <a:t>Runtime</a:t>
                      </a:r>
                    </a:p>
                  </a:txBody>
                  <a:tcPr marL="54864" marR="45720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7202A"/>
                          </a:solidFill>
                          <a:latin typeface="Aptos"/>
                        </a:defRPr>
                      </a:pPr>
                      <a:r>
                        <a:t>RTX 2080 Ti; prediction + end-to-end p95</a:t>
                      </a:r>
                    </a:p>
                  </a:txBody>
                  <a:tcPr marL="54864" marR="45720" marT="36576" marB="27432">
                    <a:solidFill>
                      <a:srgbClr val="FFFFFF"/>
                    </a:solidFill>
                  </a:tcPr>
                </a:tc>
              </a:tr>
              <a:tr h="616572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17202A"/>
                          </a:solidFill>
                          <a:latin typeface="Aptos"/>
                        </a:defRPr>
                      </a:pPr>
                      <a:r>
                        <a:t>Integritás</a:t>
                      </a:r>
                    </a:p>
                  </a:txBody>
                  <a:tcPr marL="54864" marR="45720" marT="36576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7202A"/>
                          </a:solidFill>
                          <a:latin typeface="Aptos"/>
                        </a:defRPr>
                      </a:pPr>
                      <a:r>
                        <a:t>run / config / checkpoint SHA-256</a:t>
                      </a:r>
                    </a:p>
                  </a:txBody>
                  <a:tcPr marL="54864" marR="45720" marT="36576" marB="27432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812280" y="1325880"/>
            <a:ext cx="4553712" cy="43159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14032" y="1609344"/>
            <a:ext cx="3931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17202A"/>
                </a:solidFill>
                <a:latin typeface="Aptos"/>
              </a:rPr>
              <a:t>Miért fontos a kontroll?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14032" y="2157984"/>
            <a:ext cx="3840480" cy="2423160"/>
          </a:xfrm>
          <a:prstGeom prst="rect">
            <a:avLst/>
          </a:prstGeom>
          <a:noFill/>
        </p:spPr>
        <p:txBody>
          <a:bodyPr wrap="square" lIns="109728" rIns="36576" tIns="27432" bIns="18288">
            <a:spAutoFit/>
          </a:bodyPr>
          <a:lstStyle/>
          <a:p>
            <a:pPr>
              <a:buChar char="•"/>
              <a:lnSpc>
                <a:spcPct val="105000"/>
              </a:lnSpc>
              <a:spcAft>
                <a:spcPts val="1000"/>
              </a:spcAft>
              <a:defRPr sz="1700">
                <a:solidFill>
                  <a:srgbClr val="17202A"/>
                </a:solidFill>
                <a:latin typeface="Aptos"/>
              </a:defRPr>
            </a:pPr>
            <a:r>
              <a:t>Az accuracy és a runtime ugyanahhoz a checkpointhez kötött.</a:t>
            </a:r>
          </a:p>
          <a:p>
            <a:pPr>
              <a:buChar char="•"/>
              <a:lnSpc>
                <a:spcPct val="105000"/>
              </a:lnSpc>
              <a:spcAft>
                <a:spcPts val="1000"/>
              </a:spcAft>
              <a:defRPr sz="1700">
                <a:solidFill>
                  <a:srgbClr val="17202A"/>
                </a:solidFill>
                <a:latin typeface="Aptos"/>
              </a:defRPr>
            </a:pPr>
            <a:r>
              <a:t>A p95 két scope-ban külön értelmezhető: prediction és end-to-end.</a:t>
            </a:r>
          </a:p>
          <a:p>
            <a:pPr>
              <a:buChar char="•"/>
              <a:lnSpc>
                <a:spcPct val="105000"/>
              </a:lnSpc>
              <a:spcAft>
                <a:spcPts val="1000"/>
              </a:spcAft>
              <a:defRPr sz="1700">
                <a:solidFill>
                  <a:srgbClr val="17202A"/>
                </a:solidFill>
                <a:latin typeface="Aptos"/>
              </a:defRPr>
            </a:pPr>
            <a:r>
              <a:t>A comparison kizárja a csendes dataset/config mismatch-et.</a:t>
            </a:r>
          </a:p>
          <a:p>
            <a:pPr>
              <a:buChar char="•"/>
              <a:lnSpc>
                <a:spcPct val="105000"/>
              </a:lnSpc>
              <a:spcAft>
                <a:spcPts val="1000"/>
              </a:spcAft>
              <a:defRPr sz="1700">
                <a:solidFill>
                  <a:srgbClr val="17202A"/>
                </a:solidFill>
                <a:latin typeface="Aptos"/>
              </a:defRPr>
            </a:pPr>
            <a:r>
              <a:t>Egy seed és KITTI validation: erős döntési evidence, nem statisztikai általánosítás.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14032" y="4828032"/>
            <a:ext cx="2331720" cy="310896"/>
          </a:xfrm>
          <a:prstGeom prst="roundRect">
            <a:avLst>
              <a:gd name="adj" fmla="val 25000"/>
            </a:avLst>
          </a:prstGeom>
          <a:solidFill>
            <a:srgbClr val="E8F0F8"/>
          </a:solidFill>
          <a:ln w="10160">
            <a:solidFill>
              <a:srgbClr val="E8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59752" y="4864608"/>
            <a:ext cx="2240279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300" b="1" i="0">
                <a:solidFill>
                  <a:srgbClr val="285C99"/>
                </a:solidFill>
                <a:latin typeface="Aptos"/>
              </a:rPr>
              <a:t>[1] Yin et al., CVPR 2021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55480" y="4828032"/>
            <a:ext cx="1554480" cy="310896"/>
          </a:xfrm>
          <a:prstGeom prst="roundRect">
            <a:avLst>
              <a:gd name="adj" fmla="val 25000"/>
            </a:avLst>
          </a:prstGeom>
          <a:solidFill>
            <a:srgbClr val="E9F4F1"/>
          </a:solidFill>
          <a:ln w="10160">
            <a:solidFill>
              <a:srgbClr val="E9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0" y="4864608"/>
            <a:ext cx="1463039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2A8B92"/>
                </a:solidFill>
                <a:latin typeface="Aptos"/>
              </a:rPr>
              <a:t>Saját evidence — E1/E2/E8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016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85C99"/>
          </a:solidFill>
          <a:ln w="10160">
            <a:solidFill>
              <a:srgbClr val="285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1024128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500" b="1" i="0">
                <a:solidFill>
                  <a:srgbClr val="17202A"/>
                </a:solidFill>
                <a:latin typeface="Aptos"/>
              </a:rPr>
              <a:t>Két optimum rajzolódott ki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77824"/>
            <a:ext cx="101498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600" b="0" i="0">
                <a:solidFill>
                  <a:srgbClr val="566270"/>
                </a:solidFill>
                <a:latin typeface="Aptos"/>
              </a:rPr>
              <a:t>A frontier két deployment-profilt támogat; nincs abszolút győztes.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384048"/>
            <a:ext cx="685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100" b="0" i="0">
                <a:solidFill>
                  <a:srgbClr val="566270"/>
                </a:solidFill>
                <a:latin typeface="Aptos"/>
              </a:rPr>
              <a:t>05 / 15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6455664"/>
            <a:ext cx="11045952" cy="0"/>
          </a:xfrm>
          <a:prstGeom prst="line">
            <a:avLst/>
          </a:prstGeom>
          <a:ln w="10160">
            <a:solidFill>
              <a:srgbClr val="D5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94360" y="6492240"/>
            <a:ext cx="68580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566270"/>
                </a:solidFill>
                <a:latin typeface="Aptos"/>
              </a:rPr>
              <a:t>LiDAR CenterPoint  |  Saját mérés — KITTI validation</a:t>
            </a:r>
          </a:p>
        </p:txBody>
      </p:sp>
      <p:pic>
        <p:nvPicPr>
          <p:cNvPr id="9" name="Picture 8" descr="hatmodell_pareto_3d_ap40_p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7543800" cy="427100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522208" y="1325880"/>
            <a:ext cx="3063240" cy="43708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96528" y="1645920"/>
            <a:ext cx="2487168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17202A"/>
                </a:solidFill>
                <a:latin typeface="Aptos"/>
              </a:rPr>
              <a:t>Két finalista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96528" y="2231136"/>
            <a:ext cx="20116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200" b="1" i="0">
                <a:solidFill>
                  <a:srgbClr val="285C99"/>
                </a:solidFill>
                <a:latin typeface="Aptos"/>
              </a:rPr>
              <a:t>Voxel0075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96528" y="2596896"/>
            <a:ext cx="201168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100" b="1" i="0">
                <a:solidFill>
                  <a:srgbClr val="17202A"/>
                </a:solidFill>
                <a:latin typeface="Aptos"/>
              </a:rPr>
              <a:t>66,17 AP40
35,33 ms p95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796528" y="3310128"/>
            <a:ext cx="2450592" cy="0"/>
          </a:xfrm>
          <a:prstGeom prst="line">
            <a:avLst/>
          </a:prstGeom>
          <a:ln w="12700">
            <a:solidFill>
              <a:srgbClr val="D5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796528" y="3566160"/>
            <a:ext cx="20116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200" b="1" i="0">
                <a:solidFill>
                  <a:srgbClr val="E68A2E"/>
                </a:solidFill>
                <a:latin typeface="Aptos"/>
              </a:rPr>
              <a:t>Pillar02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96528" y="3931920"/>
            <a:ext cx="201168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100" b="1" i="0">
                <a:solidFill>
                  <a:srgbClr val="17202A"/>
                </a:solidFill>
                <a:latin typeface="Aptos"/>
              </a:rPr>
              <a:t>55,19 AP40
15,00 ms p95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96528" y="4901184"/>
            <a:ext cx="233172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600" b="0" i="0">
                <a:solidFill>
                  <a:srgbClr val="566270"/>
                </a:solidFill>
                <a:latin typeface="Aptos"/>
              </a:rPr>
              <a:t>DCN-változatok: domináltak
a megfelelő alapmodellhez képest.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5806440"/>
            <a:ext cx="1965960" cy="310896"/>
          </a:xfrm>
          <a:prstGeom prst="roundRect">
            <a:avLst>
              <a:gd name="adj" fmla="val 25000"/>
            </a:avLst>
          </a:prstGeom>
          <a:solidFill>
            <a:srgbClr val="E8F0F8"/>
          </a:solidFill>
          <a:ln w="10160">
            <a:solidFill>
              <a:srgbClr val="E8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" y="5843016"/>
            <a:ext cx="1874519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300" b="1" i="0">
                <a:solidFill>
                  <a:srgbClr val="285C99"/>
                </a:solidFill>
                <a:latin typeface="Aptos"/>
              </a:rPr>
              <a:t>E1 — 6 modell, 20 epoch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016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85C99"/>
          </a:solidFill>
          <a:ln w="10160">
            <a:solidFill>
              <a:srgbClr val="285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1024128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500" b="1" i="0">
                <a:solidFill>
                  <a:srgbClr val="17202A"/>
                </a:solidFill>
                <a:latin typeface="Aptos"/>
              </a:rPr>
              <a:t>A teljes pipeline eléri a 20 Hz-es célt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77824"/>
            <a:ext cx="101498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600" b="0" i="0">
                <a:solidFill>
                  <a:srgbClr val="566270"/>
                </a:solidFill>
                <a:latin typeface="Aptos"/>
              </a:rPr>
              <a:t>A prediction-only és az end-to-end p95 különbsége kicsi, de nem hagyható figyelmen kívül.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384048"/>
            <a:ext cx="685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100" b="0" i="0">
                <a:solidFill>
                  <a:srgbClr val="566270"/>
                </a:solidFill>
                <a:latin typeface="Aptos"/>
              </a:rPr>
              <a:t>06 / 15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6455664"/>
            <a:ext cx="11045952" cy="0"/>
          </a:xfrm>
          <a:prstGeom prst="line">
            <a:avLst/>
          </a:prstGeom>
          <a:ln w="10160">
            <a:solidFill>
              <a:srgbClr val="D5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94360" y="6492240"/>
            <a:ext cx="68580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566270"/>
                </a:solidFill>
                <a:latin typeface="Aptos"/>
              </a:rPr>
              <a:t>LiDAR CenterPoint  |  Saját mérés — KITTI validation</a:t>
            </a:r>
          </a:p>
        </p:txBody>
      </p:sp>
      <p:pic>
        <p:nvPicPr>
          <p:cNvPr id="9" name="Picture 8" descr="hatmodell_p95_meresi_sco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88720"/>
            <a:ext cx="7818120" cy="442631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732520" y="1389888"/>
            <a:ext cx="2697480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6840" y="1691640"/>
            <a:ext cx="214884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17202A"/>
                </a:solidFill>
                <a:latin typeface="Aptos"/>
              </a:rPr>
              <a:t>Mérési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6840" y="2286000"/>
            <a:ext cx="20116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000" b="1" i="0">
                <a:solidFill>
                  <a:srgbClr val="285C99"/>
                </a:solidFill>
                <a:latin typeface="Aptos"/>
              </a:rPr>
              <a:t>Prediction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6840" y="2606040"/>
            <a:ext cx="205740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600" b="0" i="0">
                <a:solidFill>
                  <a:srgbClr val="566270"/>
                </a:solidFill>
                <a:latin typeface="Aptos"/>
              </a:rPr>
              <a:t>model.test_step(batch)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6840" y="3246120"/>
            <a:ext cx="20116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000" b="1" i="0">
                <a:solidFill>
                  <a:srgbClr val="E68A2E"/>
                </a:solidFill>
                <a:latin typeface="Aptos"/>
              </a:rPr>
              <a:t>End-to-end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40" y="3566160"/>
            <a:ext cx="205740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600" b="0" i="0">
                <a:solidFill>
                  <a:srgbClr val="566270"/>
                </a:solidFill>
                <a:latin typeface="Aptos"/>
              </a:rPr>
              <a:t>next(iterator) + test_step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006840" y="4206240"/>
            <a:ext cx="2103120" cy="0"/>
          </a:xfrm>
          <a:prstGeom prst="line">
            <a:avLst/>
          </a:prstGeom>
          <a:ln w="12700">
            <a:solidFill>
              <a:srgbClr val="D5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006840" y="4462272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17202A"/>
                </a:solidFill>
                <a:latin typeface="Aptos"/>
              </a:rPr>
              <a:t>Cél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02368" y="4407408"/>
            <a:ext cx="132588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200" b="1" i="0">
                <a:solidFill>
                  <a:srgbClr val="2A8B92"/>
                </a:solidFill>
                <a:latin typeface="Aptos"/>
              </a:rPr>
              <a:t>≤ 50 ms p95
= 20 Hz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79408" y="5230368"/>
            <a:ext cx="2066543" cy="310896"/>
          </a:xfrm>
          <a:prstGeom prst="roundRect">
            <a:avLst>
              <a:gd name="adj" fmla="val 25000"/>
            </a:avLst>
          </a:prstGeom>
          <a:solidFill>
            <a:srgbClr val="E9F4F1"/>
          </a:solidFill>
          <a:ln w="10160">
            <a:solidFill>
              <a:srgbClr val="E9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25128" y="5266944"/>
            <a:ext cx="1975103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2A8B92"/>
                </a:solidFill>
                <a:latin typeface="Aptos"/>
              </a:rPr>
              <a:t>RTX 2080 Ti • 1 000 minta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016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85C99"/>
          </a:solidFill>
          <a:ln w="10160">
            <a:solidFill>
              <a:srgbClr val="285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1024128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500" b="1" i="0">
                <a:solidFill>
                  <a:srgbClr val="17202A"/>
                </a:solidFill>
                <a:latin typeface="Aptos"/>
              </a:rPr>
              <a:t>A hosszabb tanítás csak Pillar02-n segített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77824"/>
            <a:ext cx="101498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600" b="0" i="0">
                <a:solidFill>
                  <a:srgbClr val="566270"/>
                </a:solidFill>
                <a:latin typeface="Aptos"/>
              </a:rPr>
              <a:t>A több epoch önmagában nem garantál jobb modellt.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384048"/>
            <a:ext cx="685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100" b="0" i="0">
                <a:solidFill>
                  <a:srgbClr val="566270"/>
                </a:solidFill>
                <a:latin typeface="Aptos"/>
              </a:rPr>
              <a:t>07 / 15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6455664"/>
            <a:ext cx="11045952" cy="0"/>
          </a:xfrm>
          <a:prstGeom prst="line">
            <a:avLst/>
          </a:prstGeom>
          <a:ln w="10160">
            <a:solidFill>
              <a:srgbClr val="D5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94360" y="6492240"/>
            <a:ext cx="68580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566270"/>
                </a:solidFill>
                <a:latin typeface="Aptos"/>
              </a:rPr>
              <a:t>LiDAR CenterPoint  |  Saját mérés — KITTI validation</a:t>
            </a:r>
          </a:p>
        </p:txBody>
      </p:sp>
      <p:pic>
        <p:nvPicPr>
          <p:cNvPr id="9" name="Picture 8" descr="finalistak_eredmeny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15568"/>
            <a:ext cx="8275320" cy="395829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9189720" y="1298448"/>
            <a:ext cx="2286000" cy="44074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36608" y="1609344"/>
            <a:ext cx="16916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17202A"/>
                </a:solidFill>
                <a:latin typeface="Aptos"/>
              </a:rPr>
              <a:t>Döntés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36608" y="2121408"/>
            <a:ext cx="17830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000" b="1" i="0">
                <a:solidFill>
                  <a:srgbClr val="4C9964"/>
                </a:solidFill>
                <a:latin typeface="Aptos"/>
              </a:rPr>
              <a:t>Pillar02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36608" y="2432304"/>
            <a:ext cx="17373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900" b="1" i="0">
                <a:solidFill>
                  <a:srgbClr val="17202A"/>
                </a:solidFill>
                <a:latin typeface="Aptos"/>
              </a:rPr>
              <a:t>55,19 → 59,33
AP40  (+4,14)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36608" y="3063240"/>
            <a:ext cx="17830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600" b="0" i="0">
                <a:solidFill>
                  <a:srgbClr val="566270"/>
                </a:solidFill>
                <a:latin typeface="Aptos"/>
              </a:rPr>
              <a:t>p95: 15,00 → 15,09 ms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436608" y="3547872"/>
            <a:ext cx="1764792" cy="0"/>
          </a:xfrm>
          <a:prstGeom prst="line">
            <a:avLst/>
          </a:prstGeom>
          <a:ln w="12700">
            <a:solidFill>
              <a:srgbClr val="D5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436608" y="3803904"/>
            <a:ext cx="17830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000" b="1" i="0">
                <a:solidFill>
                  <a:srgbClr val="C84C52"/>
                </a:solidFill>
                <a:latin typeface="Aptos"/>
              </a:rPr>
              <a:t>Voxel0075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36608" y="4114800"/>
            <a:ext cx="17373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900" b="1" i="0">
                <a:solidFill>
                  <a:srgbClr val="17202A"/>
                </a:solidFill>
                <a:latin typeface="Aptos"/>
              </a:rPr>
              <a:t>66,17 → 65,80
AP40  (−0,36)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36608" y="4754880"/>
            <a:ext cx="17830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600" b="0" i="0">
                <a:solidFill>
                  <a:srgbClr val="566270"/>
                </a:solidFill>
                <a:latin typeface="Aptos"/>
              </a:rPr>
              <a:t>p95: 35,33 → 42,02 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016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85C99"/>
          </a:solidFill>
          <a:ln w="10160">
            <a:solidFill>
              <a:srgbClr val="285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1024128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500" b="1" i="0">
                <a:solidFill>
                  <a:srgbClr val="17202A"/>
                </a:solidFill>
                <a:latin typeface="Aptos"/>
              </a:rPr>
              <a:t>A multiclass működését Pillar02 igazolta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77824"/>
            <a:ext cx="101498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600" b="0" i="0">
                <a:solidFill>
                  <a:srgbClr val="566270"/>
                </a:solidFill>
                <a:latin typeface="Aptos"/>
              </a:rPr>
              <a:t>Feasibility evidence, nem közvetlen rangsor a hat Car-only modell mellett.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384048"/>
            <a:ext cx="685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100" b="0" i="0">
                <a:solidFill>
                  <a:srgbClr val="566270"/>
                </a:solidFill>
                <a:latin typeface="Aptos"/>
              </a:rPr>
              <a:t>08 / 15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6455664"/>
            <a:ext cx="11045952" cy="0"/>
          </a:xfrm>
          <a:prstGeom prst="line">
            <a:avLst/>
          </a:prstGeom>
          <a:ln w="10160">
            <a:solidFill>
              <a:srgbClr val="D5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94360" y="6492240"/>
            <a:ext cx="68580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566270"/>
                </a:solidFill>
                <a:latin typeface="Aptos"/>
              </a:rPr>
              <a:t>LiDAR CenterPoint  |  Saját mérés — KITTI validation</a:t>
            </a:r>
          </a:p>
        </p:txBody>
      </p:sp>
      <p:pic>
        <p:nvPicPr>
          <p:cNvPr id="9" name="Picture 8" descr="pillar02_tobbosztalyos_ap40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143000"/>
            <a:ext cx="7863840" cy="454537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732520" y="1307592"/>
            <a:ext cx="2688336" cy="4389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6840" y="1627632"/>
            <a:ext cx="210312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17202A"/>
                </a:solidFill>
                <a:latin typeface="Aptos"/>
              </a:rPr>
              <a:t>Mit bizonyít?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42832" y="2240280"/>
            <a:ext cx="2130552" cy="2331720"/>
          </a:xfrm>
          <a:prstGeom prst="rect">
            <a:avLst/>
          </a:prstGeom>
          <a:noFill/>
        </p:spPr>
        <p:txBody>
          <a:bodyPr wrap="square" lIns="109728" rIns="36576" tIns="27432" bIns="18288">
            <a:spAutoFit/>
          </a:bodyPr>
          <a:lstStyle/>
          <a:p>
            <a:pPr>
              <a:buChar char="•"/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7202A"/>
                </a:solidFill>
                <a:latin typeface="Aptos"/>
              </a:defRPr>
            </a:pPr>
            <a:r>
              <a:t>3 osztály: Car, Pedestrian, Cyclist</a:t>
            </a:r>
          </a:p>
          <a:p>
            <a:pPr>
              <a:buChar char="•"/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7202A"/>
                </a:solidFill>
                <a:latin typeface="Aptos"/>
              </a:defRPr>
            </a:pPr>
            <a:r>
              <a:t>60 epoch; checkpoint: epoch 55</a:t>
            </a:r>
          </a:p>
          <a:p>
            <a:pPr>
              <a:buChar char="•"/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7202A"/>
                </a:solidFill>
                <a:latin typeface="Aptos"/>
              </a:defRPr>
            </a:pPr>
            <a:r>
              <a:t>Car legerősebb; Pedestrian legnehezebb</a:t>
            </a:r>
          </a:p>
          <a:p>
            <a:pPr>
              <a:buChar char="•"/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17202A"/>
                </a:solidFill>
                <a:latin typeface="Aptos"/>
              </a:defRPr>
            </a:pPr>
            <a:r>
              <a:t>End-to-end p95: 14,77 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5166360"/>
            <a:ext cx="2029968" cy="310896"/>
          </a:xfrm>
          <a:prstGeom prst="roundRect">
            <a:avLst>
              <a:gd name="adj" fmla="val 25000"/>
            </a:avLst>
          </a:prstGeom>
          <a:solidFill>
            <a:srgbClr val="E8F0F8"/>
          </a:solidFill>
          <a:ln w="10160">
            <a:solidFill>
              <a:srgbClr val="E8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5202936"/>
            <a:ext cx="1938528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300" b="1" i="0">
                <a:solidFill>
                  <a:srgbClr val="285C99"/>
                </a:solidFill>
                <a:latin typeface="Aptos"/>
              </a:rPr>
              <a:t>Külön feasibility run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5833872"/>
            <a:ext cx="106984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0" i="0">
                <a:solidFill>
                  <a:srgbClr val="566270"/>
                </a:solidFill>
                <a:latin typeface="Aptos"/>
              </a:rPr>
              <a:t>A további architektúrák multiclass tanítása a Car-fókusz és az időkeret miatt nem volt indokolt.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016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85C99"/>
          </a:solidFill>
          <a:ln w="10160">
            <a:solidFill>
              <a:srgbClr val="285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1024128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500" b="1" i="0">
                <a:solidFill>
                  <a:srgbClr val="17202A"/>
                </a:solidFill>
                <a:latin typeface="Aptos"/>
              </a:rPr>
              <a:t>Működő ROS2/Foxglove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77824"/>
            <a:ext cx="101498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600" b="0" i="0">
                <a:solidFill>
                  <a:srgbClr val="566270"/>
                </a:solidFill>
                <a:latin typeface="Aptos"/>
              </a:rPr>
              <a:t>A runtime acceptance a nyers detekciót és a származtatott trackinget külön kezeli.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384048"/>
            <a:ext cx="685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100" b="0" i="0">
                <a:solidFill>
                  <a:srgbClr val="566270"/>
                </a:solidFill>
                <a:latin typeface="Aptos"/>
              </a:rPr>
              <a:t>09 / 15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6455664"/>
            <a:ext cx="11045952" cy="0"/>
          </a:xfrm>
          <a:prstGeom prst="line">
            <a:avLst/>
          </a:prstGeom>
          <a:ln w="10160">
            <a:solidFill>
              <a:srgbClr val="D5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94360" y="6492240"/>
            <a:ext cx="68580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566270"/>
                </a:solidFill>
                <a:latin typeface="Aptos"/>
              </a:rPr>
              <a:t>LiDAR CenterPoint  |  Saját mérés — KITTI validation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600200"/>
            <a:ext cx="1810512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792224"/>
            <a:ext cx="1627632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800" b="1" i="0">
                <a:solidFill>
                  <a:srgbClr val="17202A"/>
                </a:solidFill>
                <a:latin typeface="Aptos"/>
              </a:rPr>
              <a:t>MCAP / live bag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304288"/>
            <a:ext cx="162763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0" i="0">
                <a:solidFill>
                  <a:srgbClr val="566270"/>
                </a:solidFill>
                <a:latin typeface="Aptos"/>
              </a:rPr>
              <a:t>PointCloud2
clock + TF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432304" y="2212848"/>
            <a:ext cx="310896" cy="0"/>
          </a:xfrm>
          <a:prstGeom prst="line">
            <a:avLst/>
          </a:prstGeom>
          <a:ln w="21590">
            <a:solidFill>
              <a:srgbClr val="285C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34640" y="1600200"/>
            <a:ext cx="1810512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85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0" y="1792224"/>
            <a:ext cx="1627632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800" b="1" i="0">
                <a:solidFill>
                  <a:srgbClr val="17202A"/>
                </a:solidFill>
                <a:latin typeface="Aptos"/>
              </a:rPr>
              <a:t>Detector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304288"/>
            <a:ext cx="162763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0" i="0">
                <a:solidFill>
                  <a:srgbClr val="566270"/>
                </a:solidFill>
                <a:latin typeface="Aptos"/>
              </a:rPr>
              <a:t>voxel0075
closed registry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645152" y="2212848"/>
            <a:ext cx="310896" cy="0"/>
          </a:xfrm>
          <a:prstGeom prst="line">
            <a:avLst/>
          </a:prstGeom>
          <a:ln w="21590">
            <a:solidFill>
              <a:srgbClr val="285C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047488" y="1600200"/>
            <a:ext cx="1810512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38927" y="1792224"/>
            <a:ext cx="1627632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800" b="1" i="0">
                <a:solidFill>
                  <a:srgbClr val="17202A"/>
                </a:solidFill>
                <a:latin typeface="Aptos"/>
              </a:rPr>
              <a:t>Raw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8927" y="2304288"/>
            <a:ext cx="162763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0" i="0">
                <a:solidFill>
                  <a:srgbClr val="566270"/>
                </a:solidFill>
                <a:latin typeface="Aptos"/>
              </a:rPr>
              <a:t>detections
markers + diag.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0" y="2212848"/>
            <a:ext cx="310896" cy="0"/>
          </a:xfrm>
          <a:prstGeom prst="line">
            <a:avLst/>
          </a:prstGeom>
          <a:ln w="21590">
            <a:solidFill>
              <a:srgbClr val="285C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260336" y="1600200"/>
            <a:ext cx="1810512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85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51776" y="1792224"/>
            <a:ext cx="1627632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800" b="1" i="0">
                <a:solidFill>
                  <a:srgbClr val="17202A"/>
                </a:solidFill>
                <a:latin typeface="Aptos"/>
              </a:rPr>
              <a:t>Tracker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51776" y="2304288"/>
            <a:ext cx="162763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0" i="0">
                <a:solidFill>
                  <a:srgbClr val="566270"/>
                </a:solidFill>
                <a:latin typeface="Aptos"/>
              </a:rPr>
              <a:t>stable IDs
coast + trails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070848" y="2212848"/>
            <a:ext cx="310896" cy="0"/>
          </a:xfrm>
          <a:prstGeom prst="line">
            <a:avLst/>
          </a:prstGeom>
          <a:ln w="21590">
            <a:solidFill>
              <a:srgbClr val="285C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473184" y="1600200"/>
            <a:ext cx="1810512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64624" y="1792224"/>
            <a:ext cx="1627632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800" b="1" i="0">
                <a:solidFill>
                  <a:srgbClr val="17202A"/>
                </a:solidFill>
                <a:latin typeface="Aptos"/>
              </a:rPr>
              <a:t>Foxglove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64624" y="2304288"/>
            <a:ext cx="162763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0" i="0">
                <a:solidFill>
                  <a:srgbClr val="566270"/>
                </a:solidFill>
                <a:latin typeface="Aptos"/>
              </a:rPr>
              <a:t>3D + camera
fixed frame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384" y="3703320"/>
            <a:ext cx="3291840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6" y="3840480"/>
            <a:ext cx="292608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1" i="0">
                <a:solidFill>
                  <a:srgbClr val="2A8B92"/>
                </a:solidFill>
                <a:latin typeface="Aptos"/>
              </a:rPr>
              <a:t>✓ Raw + tracked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6" y="4123944"/>
            <a:ext cx="29260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600" b="0" i="0">
                <a:solidFill>
                  <a:srgbClr val="566270"/>
                </a:solidFill>
                <a:latin typeface="Aptos"/>
              </a:rPr>
              <a:t>párhuzamos topicok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17136" y="3703320"/>
            <a:ext cx="3291840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81728" y="3840480"/>
            <a:ext cx="292608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1" i="0">
                <a:solidFill>
                  <a:srgbClr val="2A8B92"/>
                </a:solidFill>
                <a:latin typeface="Aptos"/>
              </a:rPr>
              <a:t>✓ Loop reset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81728" y="4123944"/>
            <a:ext cx="29260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600" b="0" i="0">
                <a:solidFill>
                  <a:srgbClr val="566270"/>
                </a:solidFill>
                <a:latin typeface="Aptos"/>
              </a:rPr>
              <a:t>DELETEALL + új generation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47888" y="3703320"/>
            <a:ext cx="3291840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0" y="3840480"/>
            <a:ext cx="292608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1" i="0">
                <a:solidFill>
                  <a:srgbClr val="2A8B92"/>
                </a:solidFill>
                <a:latin typeface="Aptos"/>
              </a:rPr>
              <a:t>✓ Stale védelem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4123944"/>
            <a:ext cx="29260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600" b="0" i="0">
                <a:solidFill>
                  <a:srgbClr val="566270"/>
                </a:solidFill>
                <a:latin typeface="Aptos"/>
              </a:rPr>
              <a:t>régi in-flight eredmény tiltva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86384" y="4727448"/>
            <a:ext cx="3291840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0976" y="4864608"/>
            <a:ext cx="292608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1" i="0">
                <a:solidFill>
                  <a:srgbClr val="2A8B92"/>
                </a:solidFill>
                <a:latin typeface="Aptos"/>
              </a:rPr>
              <a:t>✓ Queue accounting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0976" y="5148072"/>
            <a:ext cx="29260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600" b="0" i="0">
                <a:solidFill>
                  <a:srgbClr val="566270"/>
                </a:solidFill>
                <a:latin typeface="Aptos"/>
              </a:rPr>
              <a:t>all / latest policy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17136" y="4727448"/>
            <a:ext cx="3291840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81728" y="4864608"/>
            <a:ext cx="292608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1" i="0">
                <a:solidFill>
                  <a:srgbClr val="2A8B92"/>
                </a:solidFill>
                <a:latin typeface="Aptos"/>
              </a:rPr>
              <a:t>✓ Fixed frame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81728" y="5148072"/>
            <a:ext cx="29260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600" b="0" i="0">
                <a:solidFill>
                  <a:srgbClr val="566270"/>
                </a:solidFill>
                <a:latin typeface="Aptos"/>
              </a:rPr>
              <a:t>map → lexus3/base_link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5907024"/>
            <a:ext cx="106527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0" i="0">
                <a:solidFill>
                  <a:srgbClr val="C84C52"/>
                </a:solidFill>
                <a:latin typeface="Aptos"/>
              </a:rPr>
              <a:t>Acceptance: élő graph + Foxglove Bridge; 0 processing/tracking failure. Élő DDS loss és latest replacement előfordult.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016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85C99"/>
          </a:solidFill>
          <a:ln w="10160">
            <a:solidFill>
              <a:srgbClr val="285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1024128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500" b="1" i="0">
                <a:solidFill>
                  <a:srgbClr val="17202A"/>
                </a:solidFill>
                <a:latin typeface="Aptos"/>
              </a:rPr>
              <a:t>Erős eredmények, korlátozott érvényesség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77824"/>
            <a:ext cx="101498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600" b="0" i="0">
                <a:solidFill>
                  <a:srgbClr val="566270"/>
                </a:solidFill>
                <a:latin typeface="Aptos"/>
              </a:rPr>
              <a:t>A korlátok a következő kísérletek prioritásait is kijelölik.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384048"/>
            <a:ext cx="685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100" b="0" i="0">
                <a:solidFill>
                  <a:srgbClr val="566270"/>
                </a:solidFill>
                <a:latin typeface="Aptos"/>
              </a:rPr>
              <a:t>10 / 15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6455664"/>
            <a:ext cx="11045952" cy="0"/>
          </a:xfrm>
          <a:prstGeom prst="line">
            <a:avLst/>
          </a:prstGeom>
          <a:ln w="10160">
            <a:solidFill>
              <a:srgbClr val="D5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94360" y="6492240"/>
            <a:ext cx="68580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566270"/>
                </a:solidFill>
                <a:latin typeface="Aptos"/>
              </a:rPr>
              <a:t>LiDAR CenterPoint  |  Saját mérés — KITTI validation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298448"/>
            <a:ext cx="5230368" cy="4526280"/>
          </a:xfrm>
          <a:prstGeom prst="roundRect">
            <a:avLst/>
          </a:prstGeom>
          <a:solidFill>
            <a:srgbClr val="E9F4F1"/>
          </a:solidFill>
          <a:ln w="10160">
            <a:solidFill>
              <a:srgbClr val="C7E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627632"/>
            <a:ext cx="43434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 i="0">
                <a:solidFill>
                  <a:srgbClr val="4C9964"/>
                </a:solidFill>
                <a:latin typeface="Aptos"/>
              </a:rPr>
              <a:t>Amit bizonyítottunk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12848"/>
            <a:ext cx="4389120" cy="2240280"/>
          </a:xfrm>
          <a:prstGeom prst="rect">
            <a:avLst/>
          </a:prstGeom>
          <a:noFill/>
        </p:spPr>
        <p:txBody>
          <a:bodyPr wrap="square" lIns="109728" rIns="36576" tIns="27432" bIns="18288">
            <a:spAutoFit/>
          </a:bodyPr>
          <a:lstStyle/>
          <a:p>
            <a:pPr>
              <a:buChar char="•"/>
              <a:lnSpc>
                <a:spcPct val="105000"/>
              </a:lnSpc>
              <a:spcAft>
                <a:spcPts val="1200"/>
              </a:spcAft>
              <a:defRPr sz="1800">
                <a:solidFill>
                  <a:srgbClr val="17202A"/>
                </a:solidFill>
                <a:latin typeface="Aptos"/>
              </a:defRPr>
            </a:pPr>
            <a:r>
              <a:t>Kompatibilis, run-owned 20 epochos Car-only comparison</a:t>
            </a:r>
          </a:p>
          <a:p>
            <a:pPr>
              <a:buChar char="•"/>
              <a:lnSpc>
                <a:spcPct val="105000"/>
              </a:lnSpc>
              <a:spcAft>
                <a:spcPts val="1200"/>
              </a:spcAft>
              <a:defRPr sz="1800">
                <a:solidFill>
                  <a:srgbClr val="17202A"/>
                </a:solidFill>
                <a:latin typeface="Aptos"/>
              </a:defRPr>
            </a:pPr>
            <a:r>
              <a:t>Két használható finalist: accuracy és latency profil</a:t>
            </a:r>
          </a:p>
          <a:p>
            <a:pPr>
              <a:buChar char="•"/>
              <a:lnSpc>
                <a:spcPct val="105000"/>
              </a:lnSpc>
              <a:spcAft>
                <a:spcPts val="1200"/>
              </a:spcAft>
              <a:defRPr sz="1800">
                <a:solidFill>
                  <a:srgbClr val="17202A"/>
                </a:solidFill>
                <a:latin typeface="Aptos"/>
              </a:defRPr>
            </a:pPr>
            <a:r>
              <a:t>Pillar02 multiclass feasibility, saját checkpointtal</a:t>
            </a:r>
          </a:p>
          <a:p>
            <a:pPr>
              <a:buChar char="•"/>
              <a:lnSpc>
                <a:spcPct val="105000"/>
              </a:lnSpc>
              <a:spcAft>
                <a:spcPts val="1200"/>
              </a:spcAft>
              <a:defRPr sz="1800">
                <a:solidFill>
                  <a:srgbClr val="17202A"/>
                </a:solidFill>
                <a:latin typeface="Aptos"/>
              </a:defRPr>
            </a:pPr>
            <a:r>
              <a:t>Működő ROS2/Foxglove/tracking acceptance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298448"/>
            <a:ext cx="5230368" cy="4526280"/>
          </a:xfrm>
          <a:prstGeom prst="roundRect">
            <a:avLst/>
          </a:prstGeom>
          <a:solidFill>
            <a:srgbClr val="FFF1F1"/>
          </a:solidFill>
          <a:ln w="10160">
            <a:solidFill>
              <a:srgbClr val="E9C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1627632"/>
            <a:ext cx="43434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 i="0">
                <a:solidFill>
                  <a:srgbClr val="C84C52"/>
                </a:solidFill>
                <a:latin typeface="Aptos"/>
              </a:rPr>
              <a:t>Amit nem állítunk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8816" y="2212848"/>
            <a:ext cx="4462272" cy="2834640"/>
          </a:xfrm>
          <a:prstGeom prst="rect">
            <a:avLst/>
          </a:prstGeom>
          <a:noFill/>
        </p:spPr>
        <p:txBody>
          <a:bodyPr wrap="square" lIns="109728" rIns="36576" tIns="27432" bIns="18288">
            <a:spAutoFit/>
          </a:bodyPr>
          <a:lstStyle/>
          <a:p>
            <a:pPr>
              <a:buChar char="•"/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7202A"/>
                </a:solidFill>
                <a:latin typeface="Aptos"/>
              </a:defRPr>
            </a:pPr>
            <a:r>
              <a:t>KITTI validation-only; nincs sealed test</a:t>
            </a:r>
          </a:p>
          <a:p>
            <a:pPr>
              <a:buChar char="•"/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7202A"/>
                </a:solidFill>
                <a:latin typeface="Aptos"/>
              </a:defRPr>
            </a:pPr>
            <a:r>
              <a:t>Egy seed/run; release-version waiver</a:t>
            </a:r>
          </a:p>
          <a:p>
            <a:pPr>
              <a:buChar char="•"/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7202A"/>
                </a:solidFill>
                <a:latin typeface="Aptos"/>
              </a:defRPr>
            </a:pPr>
            <a:r>
              <a:t>Lexus bag: kvalitatív, annotáció nélkül</a:t>
            </a:r>
          </a:p>
          <a:p>
            <a:pPr>
              <a:buChar char="•"/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7202A"/>
                </a:solidFill>
                <a:latin typeface="Aptos"/>
              </a:defRPr>
            </a:pPr>
            <a:r>
              <a:t>Tracking pontosság nincs kvantitatívan mérve</a:t>
            </a:r>
          </a:p>
          <a:p>
            <a:pPr>
              <a:buChar char="•"/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7202A"/>
                </a:solidFill>
                <a:latin typeface="Aptos"/>
              </a:defRPr>
            </a:pPr>
            <a:r>
              <a:t>Élő DDS loss / latest replacements előfordult</a:t>
            </a:r>
          </a:p>
          <a:p>
            <a:pPr>
              <a:buChar char="•"/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7202A"/>
                </a:solidFill>
                <a:latin typeface="Aptos"/>
              </a:defRPr>
            </a:pPr>
            <a:r>
              <a:t>Baseline-ok még nincsenek a közös Foxglove runtime-ban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016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85C99"/>
          </a:solidFill>
          <a:ln w="10160">
            <a:solidFill>
              <a:srgbClr val="285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1024128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500" b="1" i="0">
                <a:solidFill>
                  <a:srgbClr val="17202A"/>
                </a:solidFill>
                <a:latin typeface="Aptos"/>
              </a:rPr>
              <a:t>Következő lépések: evidence és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77824"/>
            <a:ext cx="101498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600" b="0" i="0">
                <a:solidFill>
                  <a:srgbClr val="566270"/>
                </a:solidFill>
                <a:latin typeface="Aptos"/>
              </a:rPr>
              <a:t>A prioritás a finalisták stabilizálása, a domain és a deployment validációja.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384048"/>
            <a:ext cx="685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100" b="0" i="0">
                <a:solidFill>
                  <a:srgbClr val="566270"/>
                </a:solidFill>
                <a:latin typeface="Aptos"/>
              </a:rPr>
              <a:t>11 / 15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6455664"/>
            <a:ext cx="11045952" cy="0"/>
          </a:xfrm>
          <a:prstGeom prst="line">
            <a:avLst/>
          </a:prstGeom>
          <a:ln w="10160">
            <a:solidFill>
              <a:srgbClr val="D5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94360" y="6492240"/>
            <a:ext cx="68580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566270"/>
                </a:solidFill>
                <a:latin typeface="Aptos"/>
              </a:rPr>
              <a:t>LiDAR CenterPoint  |  Saját mérés — KITTI validation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307592"/>
            <a:ext cx="5074920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" y="1517904"/>
            <a:ext cx="493776" cy="493776"/>
          </a:xfrm>
          <a:prstGeom prst="ellipse">
            <a:avLst/>
          </a:prstGeom>
          <a:solidFill>
            <a:srgbClr val="285C99"/>
          </a:solidFill>
          <a:ln w="10160">
            <a:solidFill>
              <a:srgbClr val="285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618488"/>
            <a:ext cx="493776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63624" y="1472184"/>
            <a:ext cx="39319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17202A"/>
                </a:solidFill>
                <a:latin typeface="Aptos"/>
              </a:rPr>
              <a:t>Finalisták kontrollált tuningja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1801368"/>
            <a:ext cx="3877056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600" b="0" i="0">
                <a:solidFill>
                  <a:srgbClr val="566270"/>
                </a:solidFill>
                <a:latin typeface="Aptos"/>
              </a:rPr>
              <a:t>LR, loss, score/NMS, scheduler — előre rögzített factorial screen.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1307592"/>
            <a:ext cx="5074920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1517904"/>
            <a:ext cx="493776" cy="493776"/>
          </a:xfrm>
          <a:prstGeom prst="ellipse">
            <a:avLst/>
          </a:prstGeom>
          <a:solidFill>
            <a:srgbClr val="285C99"/>
          </a:solidFill>
          <a:ln w="10160">
            <a:solidFill>
              <a:srgbClr val="285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2" y="1618488"/>
            <a:ext cx="493776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95744" y="1472184"/>
            <a:ext cx="39319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17202A"/>
                </a:solidFill>
                <a:latin typeface="Aptos"/>
              </a:rPr>
              <a:t>Saját annotált adatok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95744" y="1801368"/>
            <a:ext cx="3877056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600" b="0" i="0">
                <a:solidFill>
                  <a:srgbClr val="566270"/>
                </a:solidFill>
                <a:latin typeface="Aptos"/>
              </a:rPr>
              <a:t>train/val/test split, domain adaptation, valós környezetben mért recall/precision.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2724912"/>
            <a:ext cx="5074920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6112" y="2935224"/>
            <a:ext cx="493776" cy="493776"/>
          </a:xfrm>
          <a:prstGeom prst="ellipse">
            <a:avLst/>
          </a:prstGeom>
          <a:solidFill>
            <a:srgbClr val="285C99"/>
          </a:solidFill>
          <a:ln w="10160">
            <a:solidFill>
              <a:srgbClr val="285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3035808"/>
            <a:ext cx="493776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63624" y="2889504"/>
            <a:ext cx="39319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17202A"/>
                </a:solidFill>
                <a:latin typeface="Aptos"/>
              </a:rPr>
              <a:t>Temporal fusion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63624" y="3218688"/>
            <a:ext cx="3877056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600" b="0" i="0">
                <a:solidFill>
                  <a:srgbClr val="566270"/>
                </a:solidFill>
                <a:latin typeface="Aptos"/>
              </a:rPr>
              <a:t>multi-sweep és időbeli memória a sparsity és stabilitás javítására.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45352" y="2724912"/>
            <a:ext cx="5074920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28232" y="2935224"/>
            <a:ext cx="493776" cy="493776"/>
          </a:xfrm>
          <a:prstGeom prst="ellipse">
            <a:avLst/>
          </a:prstGeom>
          <a:solidFill>
            <a:srgbClr val="285C99"/>
          </a:solidFill>
          <a:ln w="10160">
            <a:solidFill>
              <a:srgbClr val="285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28232" y="3035808"/>
            <a:ext cx="493776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95744" y="2889504"/>
            <a:ext cx="39319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17202A"/>
                </a:solidFill>
                <a:latin typeface="Aptos"/>
              </a:rPr>
              <a:t>Tracker benchmark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95744" y="3218688"/>
            <a:ext cx="3877056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600" b="0" i="0">
                <a:solidFill>
                  <a:srgbClr val="566270"/>
                </a:solidFill>
                <a:latin typeface="Aptos"/>
              </a:rPr>
              <a:t>frame/track annotáció; IDF1, ID-switch, AMOTA és baseline tracker.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3232" y="4142232"/>
            <a:ext cx="5074920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96112" y="4352544"/>
            <a:ext cx="493776" cy="493776"/>
          </a:xfrm>
          <a:prstGeom prst="ellipse">
            <a:avLst/>
          </a:prstGeom>
          <a:solidFill>
            <a:srgbClr val="285C99"/>
          </a:solidFill>
          <a:ln w="10160">
            <a:solidFill>
              <a:srgbClr val="285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4453128"/>
            <a:ext cx="493776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63624" y="4306824"/>
            <a:ext cx="39319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17202A"/>
                </a:solidFill>
                <a:latin typeface="Aptos"/>
              </a:rPr>
              <a:t>Baseline Foxglove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63624" y="4636008"/>
            <a:ext cx="3877056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600" b="0" i="0">
                <a:solidFill>
                  <a:srgbClr val="566270"/>
                </a:solidFill>
                <a:latin typeface="Aptos"/>
              </a:rPr>
              <a:t>range, class schema, alias és marker mapping modell-specifikusan.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45352" y="4142232"/>
            <a:ext cx="5074920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28232" y="4352544"/>
            <a:ext cx="493776" cy="493776"/>
          </a:xfrm>
          <a:prstGeom prst="ellipse">
            <a:avLst/>
          </a:prstGeom>
          <a:solidFill>
            <a:srgbClr val="285C99"/>
          </a:solidFill>
          <a:ln w="10160">
            <a:solidFill>
              <a:srgbClr val="285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28232" y="4453128"/>
            <a:ext cx="493776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95744" y="4306824"/>
            <a:ext cx="39319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17202A"/>
                </a:solidFill>
                <a:latin typeface="Aptos"/>
              </a:rPr>
              <a:t>Deployment hardver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95744" y="4636008"/>
            <a:ext cx="3877056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600" b="0" i="0">
                <a:solidFill>
                  <a:srgbClr val="566270"/>
                </a:solidFill>
                <a:latin typeface="Aptos"/>
              </a:rPr>
              <a:t>TensorRT FP16/INT8, memória- és latency-mérés gyengébb GPU-n.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" y="5925312"/>
            <a:ext cx="105613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000" b="1" i="0">
                <a:solidFill>
                  <a:srgbClr val="285C99"/>
                </a:solidFill>
                <a:latin typeface="Aptos"/>
              </a:rPr>
              <a:t>A cél nem még egy ad hoc futás, hanem újra ellenőrizhető run-owned evidence.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016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85C99"/>
          </a:solidFill>
          <a:ln w="10160">
            <a:solidFill>
              <a:srgbClr val="285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1024128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500" b="1" i="0">
                <a:solidFill>
                  <a:srgbClr val="17202A"/>
                </a:solidFill>
                <a:latin typeface="Aptos"/>
              </a:rPr>
              <a:t>Védhető döntés, működő útvonal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77824"/>
            <a:ext cx="101498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600" b="0" i="0">
                <a:solidFill>
                  <a:srgbClr val="566270"/>
                </a:solidFill>
                <a:latin typeface="Aptos"/>
              </a:rPr>
              <a:t>A következtetés: két finalistát kell szerep szerint használni, nem egyetlen abszolút győztest keresni.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384048"/>
            <a:ext cx="685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100" b="0" i="0">
                <a:solidFill>
                  <a:srgbClr val="566270"/>
                </a:solidFill>
                <a:latin typeface="Aptos"/>
              </a:rPr>
              <a:t>12 / 15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6455664"/>
            <a:ext cx="11045952" cy="0"/>
          </a:xfrm>
          <a:prstGeom prst="line">
            <a:avLst/>
          </a:prstGeom>
          <a:ln w="10160">
            <a:solidFill>
              <a:srgbClr val="D5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94360" y="6492240"/>
            <a:ext cx="68580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566270"/>
                </a:solidFill>
                <a:latin typeface="Aptos"/>
              </a:rPr>
              <a:t>LiDAR CenterPoint  |  Saját mérés — KITTI validation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32688" y="1609344"/>
            <a:ext cx="329184" cy="0"/>
          </a:xfrm>
          <a:prstGeom prst="line">
            <a:avLst/>
          </a:prstGeom>
          <a:ln w="38100">
            <a:solidFill>
              <a:srgbClr val="285C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463040" y="1325880"/>
            <a:ext cx="29718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200" b="1" i="0">
                <a:solidFill>
                  <a:srgbClr val="17202A"/>
                </a:solidFill>
                <a:latin typeface="Aptos"/>
              </a:rPr>
              <a:t>Reprodukálható összehasonlítás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335024"/>
            <a:ext cx="608076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 i="0">
                <a:solidFill>
                  <a:srgbClr val="566270"/>
                </a:solidFill>
                <a:latin typeface="Aptos"/>
              </a:rPr>
              <a:t>6 Car-only CenterPoint modell, azonos 20 epochos keret, run-owned evidence.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32688" y="2660903"/>
            <a:ext cx="329184" cy="0"/>
          </a:xfrm>
          <a:prstGeom prst="line">
            <a:avLst/>
          </a:prstGeom>
          <a:ln w="38100">
            <a:solidFill>
              <a:srgbClr val="285C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463040" y="2377439"/>
            <a:ext cx="29718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200" b="1" i="0">
                <a:solidFill>
                  <a:srgbClr val="17202A"/>
                </a:solidFill>
                <a:latin typeface="Aptos"/>
              </a:rPr>
              <a:t>Két hasznos finalista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386584"/>
            <a:ext cx="608076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 i="0">
                <a:solidFill>
                  <a:srgbClr val="566270"/>
                </a:solidFill>
                <a:latin typeface="Aptos"/>
              </a:rPr>
              <a:t>Voxel0075: pontossági profil. Pillar02: kis késleltetésű profil.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32688" y="3712463"/>
            <a:ext cx="329184" cy="0"/>
          </a:xfrm>
          <a:prstGeom prst="line">
            <a:avLst/>
          </a:prstGeom>
          <a:ln w="38100">
            <a:solidFill>
              <a:srgbClr val="2A8B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463040" y="3428999"/>
            <a:ext cx="29718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200" b="1" i="0">
                <a:solidFill>
                  <a:srgbClr val="17202A"/>
                </a:solidFill>
                <a:latin typeface="Aptos"/>
              </a:rPr>
              <a:t>Multiclass proof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438144"/>
            <a:ext cx="608076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 i="0">
                <a:solidFill>
                  <a:srgbClr val="566270"/>
                </a:solidFill>
                <a:latin typeface="Aptos"/>
              </a:rPr>
              <a:t>Pillar02, Car/Pedestrian/Cyclist, 60 epoch, epoch 55 checkpoint.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32688" y="4764023"/>
            <a:ext cx="329184" cy="0"/>
          </a:xfrm>
          <a:prstGeom prst="line">
            <a:avLst/>
          </a:prstGeom>
          <a:ln w="38100">
            <a:solidFill>
              <a:srgbClr val="2A8B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463040" y="4480559"/>
            <a:ext cx="29718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200" b="1" i="0">
                <a:solidFill>
                  <a:srgbClr val="17202A"/>
                </a:solidFill>
                <a:latin typeface="Aptos"/>
              </a:rPr>
              <a:t>Működő runtime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4489703"/>
            <a:ext cx="608076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 i="0">
                <a:solidFill>
                  <a:srgbClr val="566270"/>
                </a:solidFill>
                <a:latin typeface="Aptos"/>
              </a:rPr>
              <a:t>ROS2/Foxglove, raw + tracked detections, reset és diagnostics.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" y="5550408"/>
            <a:ext cx="10287000" cy="502920"/>
          </a:xfrm>
          <a:prstGeom prst="roundRect">
            <a:avLst/>
          </a:prstGeom>
          <a:solidFill>
            <a:srgbClr val="285C99"/>
          </a:solidFill>
          <a:ln w="10160">
            <a:solidFill>
              <a:srgbClr val="285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5669280"/>
            <a:ext cx="9875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"/>
              </a:rPr>
              <a:t>Védhető állítás: a kiválasztás bizonyítékalapú; a deployment- és általánosítási kérdések még mérendők.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016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85C99"/>
          </a:solidFill>
          <a:ln w="10160">
            <a:solidFill>
              <a:srgbClr val="285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1024128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500" b="1" i="0">
                <a:solidFill>
                  <a:srgbClr val="17202A"/>
                </a:solidFill>
                <a:latin typeface="Aptos"/>
              </a:rPr>
              <a:t>Függelék A — AP40 és KITTI nehézségi szintek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77824"/>
            <a:ext cx="101498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600" b="0" i="0">
                <a:solidFill>
                  <a:srgbClr val="566270"/>
                </a:solidFill>
                <a:latin typeface="Aptos"/>
              </a:rPr>
              <a:t>A fő előadásban használt metrikák rövid értelmezése.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384048"/>
            <a:ext cx="685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100" b="0" i="0">
                <a:solidFill>
                  <a:srgbClr val="566270"/>
                </a:solidFill>
                <a:latin typeface="Aptos"/>
              </a:rPr>
              <a:t>13 / 15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6455664"/>
            <a:ext cx="11045952" cy="0"/>
          </a:xfrm>
          <a:prstGeom prst="line">
            <a:avLst/>
          </a:prstGeom>
          <a:ln w="10160">
            <a:solidFill>
              <a:srgbClr val="D5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94360" y="6492240"/>
            <a:ext cx="68580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566270"/>
                </a:solidFill>
                <a:latin typeface="Aptos"/>
              </a:rPr>
              <a:t>LiDAR CenterPoint  |  Saját mérés — KITTI validation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77240" y="1325880"/>
          <a:ext cx="10652760" cy="3639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686800"/>
              </a:tblGrid>
              <a:tr h="606552">
                <a:tc>
                  <a:txBody>
                    <a:bodyPr/>
                    <a:lstStyle/>
                    <a:p>
                      <a:pPr algn="l">
                        <a:defRPr sz="1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Fogalom</a:t>
                      </a:r>
                    </a:p>
                  </a:txBody>
                  <a:tcPr marL="54864" marR="45720" marT="36576" marB="27432">
                    <a:solidFill>
                      <a:srgbClr val="285C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Rövid definíció</a:t>
                      </a:r>
                    </a:p>
                  </a:txBody>
                  <a:tcPr marL="54864" marR="45720" marT="36576" marB="27432">
                    <a:solidFill>
                      <a:srgbClr val="285C99"/>
                    </a:solidFill>
                  </a:tcPr>
                </a:tc>
              </a:tr>
              <a:tr h="606552"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17202A"/>
                          </a:solidFill>
                          <a:latin typeface="Aptos"/>
                        </a:defRPr>
                      </a:pPr>
                      <a:r>
                        <a:t>AP40</a:t>
                      </a:r>
                    </a:p>
                  </a:txBody>
                  <a:tcPr marL="54864" marR="45720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17202A"/>
                          </a:solidFill>
                          <a:latin typeface="Aptos"/>
                        </a:defRPr>
                      </a:pPr>
                      <a:r>
                        <a:t>A precision–recall görbe területe 40 recall-ponton mintavételezve.</a:t>
                      </a:r>
                    </a:p>
                  </a:txBody>
                  <a:tcPr marL="54864" marR="45720" marT="36576" marB="27432">
                    <a:solidFill>
                      <a:srgbClr val="FFFFFF"/>
                    </a:solidFill>
                  </a:tcPr>
                </a:tc>
              </a:tr>
              <a:tr h="606552"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17202A"/>
                          </a:solidFill>
                          <a:latin typeface="Aptos"/>
                        </a:defRPr>
                      </a:pPr>
                      <a:r>
                        <a:t>3D AP40</a:t>
                      </a:r>
                    </a:p>
                  </a:txBody>
                  <a:tcPr marL="54864" marR="45720" marT="36576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17202A"/>
                          </a:solidFill>
                          <a:latin typeface="Aptos"/>
                        </a:defRPr>
                      </a:pPr>
                      <a:r>
                        <a:t>Teljes 3D bounding box overlap alapján számolt AP40.</a:t>
                      </a:r>
                    </a:p>
                  </a:txBody>
                  <a:tcPr marL="54864" marR="45720" marT="36576" marB="27432">
                    <a:solidFill>
                      <a:srgbClr val="F4F7FA"/>
                    </a:solidFill>
                  </a:tcPr>
                </a:tc>
              </a:tr>
              <a:tr h="606552"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17202A"/>
                          </a:solidFill>
                          <a:latin typeface="Aptos"/>
                        </a:defRPr>
                      </a:pPr>
                      <a:r>
                        <a:t>BEV AP40</a:t>
                      </a:r>
                    </a:p>
                  </a:txBody>
                  <a:tcPr marL="54864" marR="45720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17202A"/>
                          </a:solidFill>
                          <a:latin typeface="Aptos"/>
                        </a:defRPr>
                      </a:pPr>
                      <a:r>
                        <a:t>Felülnézeti, ground-plane overlap alapján számolt AP40.</a:t>
                      </a:r>
                    </a:p>
                  </a:txBody>
                  <a:tcPr marL="54864" marR="45720" marT="36576" marB="27432">
                    <a:solidFill>
                      <a:srgbClr val="FFFFFF"/>
                    </a:solidFill>
                  </a:tcPr>
                </a:tc>
              </a:tr>
              <a:tr h="606552"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17202A"/>
                          </a:solidFill>
                          <a:latin typeface="Aptos"/>
                        </a:defRPr>
                      </a:pPr>
                      <a:r>
                        <a:t>Strict / loose</a:t>
                      </a:r>
                    </a:p>
                  </a:txBody>
                  <a:tcPr marL="54864" marR="45720" marT="36576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17202A"/>
                          </a:solidFill>
                          <a:latin typeface="Aptos"/>
                        </a:defRPr>
                      </a:pPr>
                      <a:r>
                        <a:t>Szigorúbb / megengedőbb KITTI overlap- és matching-feltétel.</a:t>
                      </a:r>
                    </a:p>
                  </a:txBody>
                  <a:tcPr marL="54864" marR="45720" marT="36576" marB="27432">
                    <a:solidFill>
                      <a:srgbClr val="F4F7FA"/>
                    </a:solidFill>
                  </a:tcPr>
                </a:tc>
              </a:tr>
              <a:tr h="606552"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17202A"/>
                          </a:solidFill>
                          <a:latin typeface="Aptos"/>
                        </a:defRPr>
                      </a:pPr>
                      <a:r>
                        <a:t>Easy / Moderate / Hard</a:t>
                      </a:r>
                    </a:p>
                  </a:txBody>
                  <a:tcPr marL="54864" marR="45720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17202A"/>
                          </a:solidFill>
                          <a:latin typeface="Aptos"/>
                        </a:defRPr>
                      </a:pPr>
                      <a:r>
                        <a:t>KITTI difficulty: a láthatóság, truncation, magasság és egyéb nehézségi feltételek kombinációja.</a:t>
                      </a:r>
                    </a:p>
                  </a:txBody>
                  <a:tcPr marL="54864" marR="45720" marT="36576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77240" y="5285232"/>
            <a:ext cx="10652760" cy="512064"/>
          </a:xfrm>
          <a:prstGeom prst="roundRect">
            <a:avLst/>
          </a:prstGeom>
          <a:solidFill>
            <a:srgbClr val="E8F0F8"/>
          </a:solidFill>
          <a:ln w="10160">
            <a:solidFill>
              <a:srgbClr val="E8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5431536"/>
            <a:ext cx="101041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800" b="1" i="0">
                <a:solidFill>
                  <a:srgbClr val="285C99"/>
                </a:solidFill>
                <a:latin typeface="Aptos"/>
              </a:rPr>
              <a:t>A prezentáció fő rangsora: Car 3D AP40 moderate strict; runtime tengely: end-to-end p95.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016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85C99"/>
          </a:solidFill>
          <a:ln w="10160">
            <a:solidFill>
              <a:srgbClr val="285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1024128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500" b="1" i="0">
                <a:solidFill>
                  <a:srgbClr val="17202A"/>
                </a:solidFill>
                <a:latin typeface="Aptos"/>
              </a:rPr>
              <a:t>Függelék B — Official PointPillars és SECOND baseline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77824"/>
            <a:ext cx="101498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600" b="0" i="0">
                <a:solidFill>
                  <a:srgbClr val="566270"/>
                </a:solidFill>
                <a:latin typeface="Aptos"/>
              </a:rPr>
              <a:t>Az eltérő training budget miatt ez referencia, nem azonos feltételű ablation.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384048"/>
            <a:ext cx="685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100" b="0" i="0">
                <a:solidFill>
                  <a:srgbClr val="566270"/>
                </a:solidFill>
                <a:latin typeface="Aptos"/>
              </a:rPr>
              <a:t>14 / 15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6455664"/>
            <a:ext cx="11045952" cy="0"/>
          </a:xfrm>
          <a:prstGeom prst="line">
            <a:avLst/>
          </a:prstGeom>
          <a:ln w="10160">
            <a:solidFill>
              <a:srgbClr val="D5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94360" y="6492240"/>
            <a:ext cx="68580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566270"/>
                </a:solidFill>
                <a:latin typeface="Aptos"/>
              </a:rPr>
              <a:t>LiDAR CenterPoint  |  Saját mérés — KITTI validation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" y="1298448"/>
          <a:ext cx="10899648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1828800"/>
                <a:gridCol w="1600200"/>
                <a:gridCol w="5138928"/>
              </a:tblGrid>
              <a:tr h="636422"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Modell</a:t>
                      </a:r>
                    </a:p>
                  </a:txBody>
                  <a:tcPr marL="54864" marR="45720" marT="36576" marB="27432">
                    <a:solidFill>
                      <a:srgbClr val="285C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Car 3D AP40</a:t>
                      </a:r>
                    </a:p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moderate strict</a:t>
                      </a:r>
                    </a:p>
                  </a:txBody>
                  <a:tcPr marL="54864" marR="45720" marT="36576" marB="27432">
                    <a:solidFill>
                      <a:srgbClr val="285C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End-to-end</a:t>
                      </a:r>
                    </a:p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p95 [ms]</a:t>
                      </a:r>
                    </a:p>
                  </a:txBody>
                  <a:tcPr marL="54864" marR="45720" marT="36576" marB="27432">
                    <a:solidFill>
                      <a:srgbClr val="285C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Training budget / státusz</a:t>
                      </a:r>
                    </a:p>
                  </a:txBody>
                  <a:tcPr marL="54864" marR="45720" marT="36576" marB="27432">
                    <a:solidFill>
                      <a:srgbClr val="285C99"/>
                    </a:solidFill>
                  </a:tcPr>
                </a:tc>
              </a:tr>
              <a:tr h="636422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17202A"/>
                          </a:solidFill>
                          <a:latin typeface="Aptos"/>
                        </a:defRPr>
                      </a:pPr>
                      <a:r>
                        <a:t>Official PointPillars</a:t>
                      </a:r>
                    </a:p>
                  </a:txBody>
                  <a:tcPr marL="54864" marR="45720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7202A"/>
                          </a:solidFill>
                          <a:latin typeface="Aptos"/>
                        </a:defRPr>
                      </a:pPr>
                      <a:r>
                        <a:t>79,13</a:t>
                      </a:r>
                    </a:p>
                  </a:txBody>
                  <a:tcPr marL="54864" marR="45720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7202A"/>
                          </a:solidFill>
                          <a:latin typeface="Aptos"/>
                        </a:defRPr>
                      </a:pPr>
                      <a:r>
                        <a:t>20,25</a:t>
                      </a:r>
                    </a:p>
                  </a:txBody>
                  <a:tcPr marL="54864" marR="45720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7202A"/>
                          </a:solidFill>
                          <a:latin typeface="Aptos"/>
                        </a:defRPr>
                      </a:pPr>
                      <a:r>
                        <a:t>official pretrained</a:t>
                      </a:r>
                    </a:p>
                    <a:p>
                      <a:pPr algn="ctr">
                        <a:defRPr sz="1600" b="0">
                          <a:solidFill>
                            <a:srgbClr val="17202A"/>
                          </a:solidFill>
                          <a:latin typeface="Aptos"/>
                        </a:defRPr>
                      </a:pPr>
                      <a:r>
                        <a:t>160e recipe</a:t>
                      </a:r>
                    </a:p>
                  </a:txBody>
                  <a:tcPr marL="54864" marR="45720" marT="36576" marB="27432">
                    <a:solidFill>
                      <a:srgbClr val="FFFFFF"/>
                    </a:solidFill>
                  </a:tcPr>
                </a:tc>
              </a:tr>
              <a:tr h="636422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17202A"/>
                          </a:solidFill>
                          <a:latin typeface="Aptos"/>
                        </a:defRPr>
                      </a:pPr>
                      <a:r>
                        <a:t>Official SECOND</a:t>
                      </a:r>
                    </a:p>
                  </a:txBody>
                  <a:tcPr marL="54864" marR="45720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7202A"/>
                          </a:solidFill>
                          <a:latin typeface="Aptos"/>
                        </a:defRPr>
                      </a:pPr>
                      <a:r>
                        <a:t>81,33</a:t>
                      </a:r>
                    </a:p>
                  </a:txBody>
                  <a:tcPr marL="54864" marR="45720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7202A"/>
                          </a:solidFill>
                          <a:latin typeface="Aptos"/>
                        </a:defRPr>
                      </a:pPr>
                      <a:r>
                        <a:t>29,52</a:t>
                      </a:r>
                    </a:p>
                  </a:txBody>
                  <a:tcPr marL="54864" marR="45720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7202A"/>
                          </a:solidFill>
                          <a:latin typeface="Aptos"/>
                        </a:defRPr>
                      </a:pPr>
                      <a:r>
                        <a:t>official pretrained</a:t>
                      </a:r>
                    </a:p>
                    <a:p>
                      <a:pPr algn="ctr">
                        <a:defRPr sz="1600" b="0">
                          <a:solidFill>
                            <a:srgbClr val="17202A"/>
                          </a:solidFill>
                          <a:latin typeface="Aptos"/>
                        </a:defRPr>
                      </a:pPr>
                      <a:r>
                        <a:t>80e recipe</a:t>
                      </a:r>
                    </a:p>
                  </a:txBody>
                  <a:tcPr marL="54864" marR="45720" marT="36576" marB="27432">
                    <a:solidFill>
                      <a:srgbClr val="FFFFFF"/>
                    </a:solidFill>
                  </a:tcPr>
                </a:tc>
              </a:tr>
              <a:tr h="636422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17202A"/>
                          </a:solidFill>
                          <a:latin typeface="Aptos"/>
                        </a:defRPr>
                      </a:pPr>
                      <a:r>
                        <a:t>Projekt Voxel0075 / 20e</a:t>
                      </a:r>
                    </a:p>
                  </a:txBody>
                  <a:tcPr marL="54864" marR="45720" marT="36576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7202A"/>
                          </a:solidFill>
                          <a:latin typeface="Aptos"/>
                        </a:defRPr>
                      </a:pPr>
                      <a:r>
                        <a:t>66,17</a:t>
                      </a:r>
                    </a:p>
                  </a:txBody>
                  <a:tcPr marL="54864" marR="45720" marT="36576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7202A"/>
                          </a:solidFill>
                          <a:latin typeface="Aptos"/>
                        </a:defRPr>
                      </a:pPr>
                      <a:r>
                        <a:t>35,33</a:t>
                      </a:r>
                    </a:p>
                  </a:txBody>
                  <a:tcPr marL="54864" marR="45720" marT="36576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7202A"/>
                          </a:solidFill>
                          <a:latin typeface="Aptos"/>
                        </a:defRPr>
                      </a:pPr>
                      <a:r>
                        <a:t>projekt Car-only</a:t>
                      </a:r>
                    </a:p>
                    <a:p>
                      <a:pPr algn="ctr">
                        <a:defRPr sz="1600" b="0">
                          <a:solidFill>
                            <a:srgbClr val="17202A"/>
                          </a:solidFill>
                          <a:latin typeface="Aptos"/>
                        </a:defRPr>
                      </a:pPr>
                      <a:r>
                        <a:t>20 epoch</a:t>
                      </a:r>
                    </a:p>
                  </a:txBody>
                  <a:tcPr marL="54864" marR="45720" marT="36576" marB="27432">
                    <a:solidFill>
                      <a:srgbClr val="F4F7FA"/>
                    </a:solidFill>
                  </a:tcPr>
                </a:tc>
              </a:tr>
              <a:tr h="636424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17202A"/>
                          </a:solidFill>
                          <a:latin typeface="Aptos"/>
                        </a:defRPr>
                      </a:pPr>
                      <a:r>
                        <a:t>Projekt Pillar02 / 30e</a:t>
                      </a:r>
                    </a:p>
                  </a:txBody>
                  <a:tcPr marL="54864" marR="45720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7202A"/>
                          </a:solidFill>
                          <a:latin typeface="Aptos"/>
                        </a:defRPr>
                      </a:pPr>
                      <a:r>
                        <a:t>59,33</a:t>
                      </a:r>
                    </a:p>
                  </a:txBody>
                  <a:tcPr marL="54864" marR="45720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7202A"/>
                          </a:solidFill>
                          <a:latin typeface="Aptos"/>
                        </a:defRPr>
                      </a:pPr>
                      <a:r>
                        <a:t>15,09</a:t>
                      </a:r>
                    </a:p>
                  </a:txBody>
                  <a:tcPr marL="54864" marR="45720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7202A"/>
                          </a:solidFill>
                          <a:latin typeface="Aptos"/>
                        </a:defRPr>
                      </a:pPr>
                      <a:r>
                        <a:t>projekt finalist</a:t>
                      </a:r>
                    </a:p>
                    <a:p>
                      <a:pPr algn="ctr">
                        <a:defRPr sz="1600" b="0">
                          <a:solidFill>
                            <a:srgbClr val="17202A"/>
                          </a:solidFill>
                          <a:latin typeface="Aptos"/>
                        </a:defRPr>
                      </a:pPr>
                      <a:r>
                        <a:t>30 epoch</a:t>
                      </a:r>
                    </a:p>
                  </a:txBody>
                  <a:tcPr marL="54864" marR="45720" marT="36576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22960" y="4828032"/>
            <a:ext cx="10515600" cy="777240"/>
          </a:xfrm>
          <a:prstGeom prst="roundRect">
            <a:avLst/>
          </a:prstGeom>
          <a:solidFill>
            <a:srgbClr val="FFF1E5"/>
          </a:solidFill>
          <a:ln w="10160">
            <a:solidFill>
              <a:srgbClr val="F1D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5038344"/>
            <a:ext cx="100126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800" b="1" i="0">
                <a:solidFill>
                  <a:srgbClr val="E68A2E"/>
                </a:solidFill>
                <a:latin typeface="Aptos"/>
              </a:rPr>
              <a:t>Értelmezés: az official baseline-ok magasabb AP40 értéke érettebb, hosszabb recipe-t tükröz; nem azonos budgetű CenterPoint-ablation.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016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85C99"/>
          </a:solidFill>
          <a:ln w="10160">
            <a:solidFill>
              <a:srgbClr val="285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1024128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500" b="1" i="0">
                <a:solidFill>
                  <a:srgbClr val="17202A"/>
                </a:solidFill>
                <a:latin typeface="Aptos"/>
              </a:rPr>
              <a:t>Függelék C — Irodalom és saját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77824"/>
            <a:ext cx="101498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600" b="0" i="0">
                <a:solidFill>
                  <a:srgbClr val="566270"/>
                </a:solidFill>
                <a:latin typeface="Aptos"/>
              </a:rPr>
              <a:t>A diákon használt rövid hivatkozások feloldása.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384048"/>
            <a:ext cx="685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100" b="0" i="0">
                <a:solidFill>
                  <a:srgbClr val="566270"/>
                </a:solidFill>
                <a:latin typeface="Aptos"/>
              </a:rPr>
              <a:t>15 / 15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6455664"/>
            <a:ext cx="11045952" cy="0"/>
          </a:xfrm>
          <a:prstGeom prst="line">
            <a:avLst/>
          </a:prstGeom>
          <a:ln w="10160">
            <a:solidFill>
              <a:srgbClr val="D5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94360" y="6492240"/>
            <a:ext cx="68580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566270"/>
                </a:solidFill>
                <a:latin typeface="Aptos"/>
              </a:rPr>
              <a:t>LiDAR CenterPoint  |  Saját mérés — KITTI validation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16736"/>
            <a:ext cx="411480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17202A"/>
                </a:solidFill>
                <a:latin typeface="Aptos"/>
              </a:rPr>
              <a:t>Irodalom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316736"/>
            <a:ext cx="411480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17202A"/>
                </a:solidFill>
                <a:latin typeface="Aptos"/>
              </a:rPr>
              <a:t>Saját 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1847088"/>
            <a:ext cx="5029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1" i="0">
                <a:solidFill>
                  <a:srgbClr val="285C99"/>
                </a:solidFill>
                <a:latin typeface="Aptos"/>
              </a:rPr>
              <a:t>[1]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847088"/>
            <a:ext cx="434340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600" b="0" i="0">
                <a:solidFill>
                  <a:srgbClr val="17202A"/>
                </a:solidFill>
                <a:latin typeface="Aptos"/>
              </a:rPr>
              <a:t>Yin et al., Center-Based 3D Object Detection and Tracking, CVPR 2021.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2505456"/>
            <a:ext cx="5029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1" i="0">
                <a:solidFill>
                  <a:srgbClr val="285C99"/>
                </a:solidFill>
                <a:latin typeface="Aptos"/>
              </a:rPr>
              <a:t>[2]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505456"/>
            <a:ext cx="434340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600" b="0" i="0">
                <a:solidFill>
                  <a:srgbClr val="17202A"/>
                </a:solidFill>
                <a:latin typeface="Aptos"/>
              </a:rPr>
              <a:t>Lang et al., PointPillars: Fast Encoders for Object Detection from Point Clouds, CVPR 2019.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163824"/>
            <a:ext cx="5029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1" i="0">
                <a:solidFill>
                  <a:srgbClr val="285C99"/>
                </a:solidFill>
                <a:latin typeface="Aptos"/>
              </a:rPr>
              <a:t>[3]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163824"/>
            <a:ext cx="434340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600" b="0" i="0">
                <a:solidFill>
                  <a:srgbClr val="17202A"/>
                </a:solidFill>
                <a:latin typeface="Aptos"/>
              </a:rPr>
              <a:t>Yan et al., SECOND: Sparsely Embedded Convolutional Detection, Sensors 2018.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3822191"/>
            <a:ext cx="5029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1" i="0">
                <a:solidFill>
                  <a:srgbClr val="285C99"/>
                </a:solidFill>
                <a:latin typeface="Aptos"/>
              </a:rPr>
              <a:t>[4]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822191"/>
            <a:ext cx="434340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600" b="0" i="0">
                <a:solidFill>
                  <a:srgbClr val="17202A"/>
                </a:solidFill>
                <a:latin typeface="Aptos"/>
              </a:rPr>
              <a:t>Geiger et al., KITTI Vision Benchmark Suite, CVPR 2012.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4480560"/>
            <a:ext cx="5029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1" i="0">
                <a:solidFill>
                  <a:srgbClr val="285C99"/>
                </a:solidFill>
                <a:latin typeface="Aptos"/>
              </a:rPr>
              <a:t>[5]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480560"/>
            <a:ext cx="434340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600" b="0" i="0">
                <a:solidFill>
                  <a:srgbClr val="17202A"/>
                </a:solidFill>
                <a:latin typeface="Aptos"/>
              </a:rPr>
              <a:t>MMDetection3D Contributors, MMDetection3D, v1.4.0.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8" y="1847088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1" i="0">
                <a:solidFill>
                  <a:srgbClr val="2A8B92"/>
                </a:solidFill>
                <a:latin typeface="Aptos"/>
              </a:rPr>
              <a:t>E1–E2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9168" y="1847088"/>
            <a:ext cx="41605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600" b="0" i="0">
                <a:solidFill>
                  <a:srgbClr val="17202A"/>
                </a:solidFill>
                <a:latin typeface="Aptos"/>
              </a:rPr>
              <a:t>Hat Car-only modell comparison: accuracy + prediction/end-to-end p95.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2505456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1" i="0">
                <a:solidFill>
                  <a:srgbClr val="2A8B92"/>
                </a:solidFill>
                <a:latin typeface="Aptos"/>
              </a:rPr>
              <a:t>E3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59168" y="2505456"/>
            <a:ext cx="41605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600" b="0" i="0">
                <a:solidFill>
                  <a:srgbClr val="17202A"/>
                </a:solidFill>
                <a:latin typeface="Aptos"/>
              </a:rPr>
              <a:t>Finalisták párosított 20/30 epochos comparison.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36208" y="3163824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1" i="0">
                <a:solidFill>
                  <a:srgbClr val="2A8B92"/>
                </a:solidFill>
                <a:latin typeface="Aptos"/>
              </a:rPr>
              <a:t>E4–E6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59168" y="3163824"/>
            <a:ext cx="41605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600" b="0" i="0">
                <a:solidFill>
                  <a:srgbClr val="17202A"/>
                </a:solidFill>
                <a:latin typeface="Aptos"/>
              </a:rPr>
              <a:t>Pillar02 multiclass evaluation, benchmark és checkpoint binding.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36208" y="3822191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1" i="0">
                <a:solidFill>
                  <a:srgbClr val="2A8B92"/>
                </a:solidFill>
                <a:latin typeface="Aptos"/>
              </a:rPr>
              <a:t>E7–E9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9168" y="3822191"/>
            <a:ext cx="41605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600" b="0" i="0">
                <a:solidFill>
                  <a:srgbClr val="17202A"/>
                </a:solidFill>
                <a:latin typeface="Aptos"/>
              </a:rPr>
              <a:t>Official baseline comparison és audit.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36208" y="4480560"/>
            <a:ext cx="731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1" i="0">
                <a:solidFill>
                  <a:srgbClr val="2A8B92"/>
                </a:solidFill>
                <a:latin typeface="Aptos"/>
              </a:rPr>
              <a:t>E10–E11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59168" y="4480560"/>
            <a:ext cx="41605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600" b="0" i="0">
                <a:solidFill>
                  <a:srgbClr val="17202A"/>
                </a:solidFill>
                <a:latin typeface="Aptos"/>
              </a:rPr>
              <a:t>Finalist registry, ROS2/Foxglove/tracking acceptance és korlátok.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" y="5650992"/>
            <a:ext cx="493776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600" b="0" i="0">
                <a:solidFill>
                  <a:srgbClr val="566270"/>
                </a:solidFill>
                <a:latin typeface="Aptos"/>
              </a:rPr>
              <a:t>Teljes bibliográfia: docs/projektdokumentacio/references.bib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36208" y="5650992"/>
            <a:ext cx="521208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600" b="0" i="0">
                <a:solidFill>
                  <a:srgbClr val="566270"/>
                </a:solidFill>
                <a:latin typeface="Aptos"/>
              </a:rPr>
              <a:t>Forrásindex: docs/projektdokumentacio/evidence_index.md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